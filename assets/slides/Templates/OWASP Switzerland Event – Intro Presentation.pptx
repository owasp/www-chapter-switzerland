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  <p:sldMasterId id="2147483669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748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e249d048d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g2e249d048d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e249d048db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2e249d048db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e249d048d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2e249d048d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249d048db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2e249d048db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e249d048db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2e249d048db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e249d048db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2e249d048db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e249d048db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2e249d048db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e249d048d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2e249d048d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e249d048db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2e249d048db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e249d048db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2e249d048db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e249d048db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2e249d048db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e249d048db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2e249d048db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e249d048db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e249d048db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1">
  <p:cSld name="Master Slide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2">
  <p:cSld name="Master Slide 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>
            <a:spLocks noGrp="1"/>
          </p:cNvSpPr>
          <p:nvPr>
            <p:ph type="pic" idx="2"/>
          </p:nvPr>
        </p:nvSpPr>
        <p:spPr>
          <a:xfrm>
            <a:off x="5181600" y="2"/>
            <a:ext cx="7010400" cy="685799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3">
  <p:cSld name="Master Slide 3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>
            <a:spLocks noGrp="1"/>
          </p:cNvSpPr>
          <p:nvPr>
            <p:ph type="pic" idx="2"/>
          </p:nvPr>
        </p:nvSpPr>
        <p:spPr>
          <a:xfrm>
            <a:off x="922852" y="0"/>
            <a:ext cx="4770404" cy="588460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4">
  <p:cSld name="Master Slide 4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>
            <a:spLocks noGrp="1"/>
          </p:cNvSpPr>
          <p:nvPr>
            <p:ph type="pic" idx="2"/>
          </p:nvPr>
        </p:nvSpPr>
        <p:spPr>
          <a:xfrm>
            <a:off x="6763232" y="1023293"/>
            <a:ext cx="4811414" cy="481141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5">
  <p:cSld name="Master Slide 5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>
            <a:spLocks noGrp="1"/>
          </p:cNvSpPr>
          <p:nvPr>
            <p:ph type="pic" idx="2"/>
          </p:nvPr>
        </p:nvSpPr>
        <p:spPr>
          <a:xfrm>
            <a:off x="6311217" y="1910284"/>
            <a:ext cx="5000978" cy="2739975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Google Shape;22;p7"/>
          <p:cNvSpPr>
            <a:spLocks noGrp="1"/>
          </p:cNvSpPr>
          <p:nvPr>
            <p:ph type="pic" idx="3"/>
          </p:nvPr>
        </p:nvSpPr>
        <p:spPr>
          <a:xfrm>
            <a:off x="879806" y="1910284"/>
            <a:ext cx="5000978" cy="27399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6">
  <p:cSld name="Master Slide 6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>
            <a:spLocks noGrp="1"/>
          </p:cNvSpPr>
          <p:nvPr>
            <p:ph type="pic" idx="2"/>
          </p:nvPr>
        </p:nvSpPr>
        <p:spPr>
          <a:xfrm>
            <a:off x="7943850" y="0"/>
            <a:ext cx="424815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7">
  <p:cSld name="Master Slide 7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9"/>
          <p:cNvSpPr>
            <a:spLocks noGrp="1"/>
          </p:cNvSpPr>
          <p:nvPr>
            <p:ph type="pic" idx="3"/>
          </p:nvPr>
        </p:nvSpPr>
        <p:spPr>
          <a:xfrm>
            <a:off x="973503" y="1569244"/>
            <a:ext cx="3068272" cy="371951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8">
  <p:cSld name="Master Slide 8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>
            <a:spLocks noGrp="1"/>
          </p:cNvSpPr>
          <p:nvPr>
            <p:ph type="pic" idx="2"/>
          </p:nvPr>
        </p:nvSpPr>
        <p:spPr>
          <a:xfrm>
            <a:off x="1234325" y="1971348"/>
            <a:ext cx="1583696" cy="1583696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10"/>
          <p:cNvSpPr>
            <a:spLocks noGrp="1"/>
          </p:cNvSpPr>
          <p:nvPr>
            <p:ph type="pic" idx="3"/>
          </p:nvPr>
        </p:nvSpPr>
        <p:spPr>
          <a:xfrm>
            <a:off x="3947121" y="1971348"/>
            <a:ext cx="1583696" cy="1583696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10"/>
          <p:cNvSpPr>
            <a:spLocks noGrp="1"/>
          </p:cNvSpPr>
          <p:nvPr>
            <p:ph type="pic" idx="4"/>
          </p:nvPr>
        </p:nvSpPr>
        <p:spPr>
          <a:xfrm>
            <a:off x="6658699" y="1971348"/>
            <a:ext cx="1583696" cy="1583696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0"/>
          <p:cNvSpPr>
            <a:spLocks noGrp="1"/>
          </p:cNvSpPr>
          <p:nvPr>
            <p:ph type="pic" idx="5"/>
          </p:nvPr>
        </p:nvSpPr>
        <p:spPr>
          <a:xfrm>
            <a:off x="9378697" y="1971348"/>
            <a:ext cx="1583696" cy="158369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9">
  <p:cSld name="Master Slide 9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1">
  <p:cSld name="Master Slide 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2">
  <p:cSld name="Master Slide 2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>
            <a:spLocks noGrp="1"/>
          </p:cNvSpPr>
          <p:nvPr>
            <p:ph type="pic" idx="2"/>
          </p:nvPr>
        </p:nvSpPr>
        <p:spPr>
          <a:xfrm>
            <a:off x="5181600" y="2"/>
            <a:ext cx="70104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3">
  <p:cSld name="Master Slide 3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>
            <a:spLocks noGrp="1"/>
          </p:cNvSpPr>
          <p:nvPr>
            <p:ph type="pic" idx="2"/>
          </p:nvPr>
        </p:nvSpPr>
        <p:spPr>
          <a:xfrm>
            <a:off x="922852" y="0"/>
            <a:ext cx="4770300" cy="5884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4">
  <p:cSld name="Master Slide 4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>
            <a:spLocks noGrp="1"/>
          </p:cNvSpPr>
          <p:nvPr>
            <p:ph type="pic" idx="2"/>
          </p:nvPr>
        </p:nvSpPr>
        <p:spPr>
          <a:xfrm>
            <a:off x="6763232" y="1023293"/>
            <a:ext cx="4811400" cy="4811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5">
  <p:cSld name="Master Slide 5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>
            <a:spLocks noGrp="1"/>
          </p:cNvSpPr>
          <p:nvPr>
            <p:ph type="pic" idx="2"/>
          </p:nvPr>
        </p:nvSpPr>
        <p:spPr>
          <a:xfrm>
            <a:off x="6311217" y="1910284"/>
            <a:ext cx="5001000" cy="27399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8"/>
          <p:cNvSpPr>
            <a:spLocks noGrp="1"/>
          </p:cNvSpPr>
          <p:nvPr>
            <p:ph type="pic" idx="3"/>
          </p:nvPr>
        </p:nvSpPr>
        <p:spPr>
          <a:xfrm>
            <a:off x="879806" y="1910284"/>
            <a:ext cx="5001000" cy="2739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6">
  <p:cSld name="Master Slide 6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>
            <a:spLocks noGrp="1"/>
          </p:cNvSpPr>
          <p:nvPr>
            <p:ph type="pic" idx="2"/>
          </p:nvPr>
        </p:nvSpPr>
        <p:spPr>
          <a:xfrm>
            <a:off x="7943850" y="0"/>
            <a:ext cx="42483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7">
  <p:cSld name="Master Slide 7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20"/>
          <p:cNvSpPr>
            <a:spLocks noGrp="1"/>
          </p:cNvSpPr>
          <p:nvPr>
            <p:ph type="pic" idx="3"/>
          </p:nvPr>
        </p:nvSpPr>
        <p:spPr>
          <a:xfrm>
            <a:off x="973503" y="1569244"/>
            <a:ext cx="3068400" cy="3719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8">
  <p:cSld name="Master Slide 8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>
            <a:spLocks noGrp="1"/>
          </p:cNvSpPr>
          <p:nvPr>
            <p:ph type="pic" idx="2"/>
          </p:nvPr>
        </p:nvSpPr>
        <p:spPr>
          <a:xfrm>
            <a:off x="1234325" y="1971348"/>
            <a:ext cx="1583700" cy="15837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21"/>
          <p:cNvSpPr>
            <a:spLocks noGrp="1"/>
          </p:cNvSpPr>
          <p:nvPr>
            <p:ph type="pic" idx="3"/>
          </p:nvPr>
        </p:nvSpPr>
        <p:spPr>
          <a:xfrm>
            <a:off x="3947121" y="1971348"/>
            <a:ext cx="1583700" cy="15837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1"/>
          <p:cNvSpPr>
            <a:spLocks noGrp="1"/>
          </p:cNvSpPr>
          <p:nvPr>
            <p:ph type="pic" idx="4"/>
          </p:nvPr>
        </p:nvSpPr>
        <p:spPr>
          <a:xfrm>
            <a:off x="6658699" y="1971348"/>
            <a:ext cx="1583700" cy="15837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21"/>
          <p:cNvSpPr>
            <a:spLocks noGrp="1"/>
          </p:cNvSpPr>
          <p:nvPr>
            <p:ph type="pic" idx="5"/>
          </p:nvPr>
        </p:nvSpPr>
        <p:spPr>
          <a:xfrm>
            <a:off x="9378697" y="1971348"/>
            <a:ext cx="1583700" cy="1583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9">
  <p:cSld name="Master Slide 9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arlow"/>
              <a:buNone/>
              <a:defRPr sz="4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arlow"/>
              <a:buNone/>
              <a:defRPr sz="4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wasp.or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membership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hyperlink" Target="https://owasp.org/www-chapter-switzerland/" TargetMode="Externa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1.png"/><Relationship Id="rId5" Type="http://schemas.openxmlformats.org/officeDocument/2006/relationships/hyperlink" Target="https://www.meetup.com/OWASPSwitzerland/" TargetMode="External"/><Relationship Id="rId10" Type="http://schemas.openxmlformats.org/officeDocument/2006/relationships/hyperlink" Target="https://x.com/owasp_ch" TargetMode="External"/><Relationship Id="rId4" Type="http://schemas.openxmlformats.org/officeDocument/2006/relationships/hyperlink" Target="https://www.youtube.com/@OWASPSwitzerland" TargetMode="External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48000">
                <a:srgbClr val="253E8E">
                  <a:alpha val="89803"/>
                </a:srgbClr>
              </a:gs>
              <a:gs pos="100000">
                <a:srgbClr val="253E8E">
                  <a:alpha val="6000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0" name="Google Shape;70;p23"/>
          <p:cNvSpPr txBox="1"/>
          <p:nvPr/>
        </p:nvSpPr>
        <p:spPr>
          <a:xfrm>
            <a:off x="998392" y="2529813"/>
            <a:ext cx="101952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F2F2F2"/>
                </a:solidFill>
                <a:latin typeface="Barlow"/>
                <a:ea typeface="Barlow"/>
                <a:cs typeface="Barlow"/>
                <a:sym typeface="Barlow"/>
              </a:rPr>
              <a:t>OWASP Switzerland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dirty="0">
                <a:solidFill>
                  <a:srgbClr val="F2F2F2"/>
                </a:solidFill>
                <a:latin typeface="Barlow"/>
                <a:ea typeface="Barlow"/>
                <a:cs typeface="Barlow"/>
                <a:sym typeface="Barlow"/>
              </a:rPr>
              <a:t>&lt;</a:t>
            </a:r>
            <a:r>
              <a:rPr lang="en-US" sz="4500" b="1" dirty="0" err="1">
                <a:solidFill>
                  <a:srgbClr val="F2F2F2"/>
                </a:solidFill>
                <a:latin typeface="Barlow"/>
                <a:ea typeface="Barlow"/>
                <a:cs typeface="Barlow"/>
                <a:sym typeface="Barlow"/>
              </a:rPr>
              <a:t>EventName</a:t>
            </a:r>
            <a:r>
              <a:rPr lang="en-US" sz="4500" b="1" dirty="0">
                <a:solidFill>
                  <a:srgbClr val="F2F2F2"/>
                </a:solidFill>
                <a:latin typeface="Barlow"/>
                <a:ea typeface="Barlow"/>
                <a:cs typeface="Barlow"/>
                <a:sym typeface="Barlow"/>
              </a:rPr>
              <a:t>&gt;</a:t>
            </a:r>
            <a:endParaRPr sz="4500" b="1" dirty="0">
              <a:solidFill>
                <a:srgbClr val="F2F2F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71" name="Google Shape;71;p23"/>
          <p:cNvGrpSpPr/>
          <p:nvPr/>
        </p:nvGrpSpPr>
        <p:grpSpPr>
          <a:xfrm>
            <a:off x="5001292" y="5685259"/>
            <a:ext cx="2189400" cy="479400"/>
            <a:chOff x="998392" y="5365209"/>
            <a:chExt cx="2189400" cy="479400"/>
          </a:xfrm>
        </p:grpSpPr>
        <p:sp>
          <p:nvSpPr>
            <p:cNvPr id="72" name="Google Shape;72;p23"/>
            <p:cNvSpPr/>
            <p:nvPr/>
          </p:nvSpPr>
          <p:spPr>
            <a:xfrm>
              <a:off x="998392" y="5365209"/>
              <a:ext cx="2189400" cy="479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73" name="Google Shape;73;p23"/>
            <p:cNvSpPr txBox="1"/>
            <p:nvPr/>
          </p:nvSpPr>
          <p:spPr>
            <a:xfrm>
              <a:off x="1113452" y="5435552"/>
              <a:ext cx="1959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2F2F2"/>
                  </a:solidFill>
                  <a:uFill>
                    <a:noFill/>
                  </a:uFill>
                  <a:latin typeface="Poppins Light"/>
                  <a:ea typeface="Poppins Light"/>
                  <a:cs typeface="Poppins Light"/>
                  <a:sym typeface="Poppins Light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www.owasp.org</a:t>
              </a:r>
              <a:endParaRPr sz="1600">
                <a:solidFill>
                  <a:srgbClr val="F2F2F2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grpSp>
        <p:nvGrpSpPr>
          <p:cNvPr id="74" name="Google Shape;74;p23"/>
          <p:cNvGrpSpPr/>
          <p:nvPr/>
        </p:nvGrpSpPr>
        <p:grpSpPr>
          <a:xfrm>
            <a:off x="297180" y="4569100"/>
            <a:ext cx="11894820" cy="708989"/>
            <a:chOff x="1095975" y="4286325"/>
            <a:chExt cx="7998424" cy="708989"/>
          </a:xfrm>
        </p:grpSpPr>
        <p:sp>
          <p:nvSpPr>
            <p:cNvPr id="75" name="Google Shape;75;p23"/>
            <p:cNvSpPr txBox="1"/>
            <p:nvPr/>
          </p:nvSpPr>
          <p:spPr>
            <a:xfrm>
              <a:off x="1095975" y="4411400"/>
              <a:ext cx="2278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rgbClr val="F2F2F2"/>
                  </a:solidFill>
                  <a:latin typeface="Barlow"/>
                  <a:ea typeface="Barlow"/>
                  <a:cs typeface="Barlow"/>
                  <a:sym typeface="Barlow"/>
                </a:rPr>
                <a:t>February 19th, 2025</a:t>
              </a:r>
              <a:endParaRPr sz="2400" b="1" dirty="0">
                <a:solidFill>
                  <a:srgbClr val="F2F2F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6" name="Google Shape;76;p23"/>
            <p:cNvSpPr txBox="1"/>
            <p:nvPr/>
          </p:nvSpPr>
          <p:spPr>
            <a:xfrm>
              <a:off x="3723199" y="4286325"/>
              <a:ext cx="5371200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Sven Vetsch, Patrick Steger, Manuel Walder, Federico Casano</a:t>
              </a:r>
              <a:endParaRPr sz="1800" b="1" dirty="0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7" name="Google Shape;77;p23"/>
            <p:cNvSpPr txBox="1"/>
            <p:nvPr/>
          </p:nvSpPr>
          <p:spPr>
            <a:xfrm>
              <a:off x="3723200" y="4656800"/>
              <a:ext cx="351840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F2F2F2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OWASP Switzerland Leader Team</a:t>
              </a:r>
              <a:endParaRPr sz="1600" dirty="0">
                <a:solidFill>
                  <a:srgbClr val="F2F2F2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cxnSp>
          <p:nvCxnSpPr>
            <p:cNvPr id="78" name="Google Shape;78;p23"/>
            <p:cNvCxnSpPr/>
            <p:nvPr/>
          </p:nvCxnSpPr>
          <p:spPr>
            <a:xfrm>
              <a:off x="3523699" y="4359493"/>
              <a:ext cx="0" cy="562800"/>
            </a:xfrm>
            <a:prstGeom prst="straightConnector1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79" name="Google Shape;7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1218" y="559025"/>
            <a:ext cx="1629559" cy="164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4"/>
          <p:cNvSpPr/>
          <p:nvPr/>
        </p:nvSpPr>
        <p:spPr>
          <a:xfrm>
            <a:off x="10794652" y="283186"/>
            <a:ext cx="1050218" cy="308068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5" name="Google Shape;85;p24"/>
          <p:cNvSpPr txBox="1"/>
          <p:nvPr/>
        </p:nvSpPr>
        <p:spPr>
          <a:xfrm>
            <a:off x="722671" y="679867"/>
            <a:ext cx="10746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INTRODUCTION TO OWASP</a:t>
            </a:r>
            <a:endParaRPr sz="4000" b="1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6" name="Google Shape;86;p24"/>
          <p:cNvSpPr/>
          <p:nvPr/>
        </p:nvSpPr>
        <p:spPr>
          <a:xfrm>
            <a:off x="841849" y="1386551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7" name="Google Shape;87;p24"/>
          <p:cNvSpPr txBox="1"/>
          <p:nvPr/>
        </p:nvSpPr>
        <p:spPr>
          <a:xfrm>
            <a:off x="722671" y="1757085"/>
            <a:ext cx="10746600" cy="29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</a:t>
            </a:r>
            <a:r>
              <a:rPr lang="en-US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 Worldwide Application Security Project</a:t>
            </a:r>
            <a:r>
              <a:rPr lang="en-US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(OWASP) is a nonprofit foundation that works to improve the security of software.</a:t>
            </a:r>
            <a:br>
              <a:rPr lang="en-US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sz="1800" dirty="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Char char="●"/>
            </a:pPr>
            <a:r>
              <a:rPr lang="en-US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Community-led open source projects including code, documentation, and standards</a:t>
            </a:r>
            <a:endParaRPr sz="1800" dirty="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Char char="●"/>
            </a:pPr>
            <a:r>
              <a:rPr lang="en-US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Over 250+ local chapters worldwide</a:t>
            </a:r>
            <a:endParaRPr sz="1800" dirty="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Char char="●"/>
            </a:pPr>
            <a:r>
              <a:rPr lang="en-US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Tens of thousands of members</a:t>
            </a:r>
            <a:endParaRPr sz="1800" dirty="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Char char="●"/>
            </a:pPr>
            <a:r>
              <a:rPr lang="en-US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Industry-leading educational and training conferences</a:t>
            </a:r>
            <a:endParaRPr sz="1800" dirty="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88" name="Google Shape;8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/>
          <p:nvPr/>
        </p:nvSpPr>
        <p:spPr>
          <a:xfrm>
            <a:off x="1" y="4719484"/>
            <a:ext cx="12192000" cy="213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4" name="Google Shape;94;p25"/>
          <p:cNvSpPr txBox="1"/>
          <p:nvPr/>
        </p:nvSpPr>
        <p:spPr>
          <a:xfrm>
            <a:off x="2148839" y="419740"/>
            <a:ext cx="789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6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Core Values</a:t>
            </a:r>
            <a:endParaRPr sz="3600" b="1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5" name="Google Shape;95;p25"/>
          <p:cNvSpPr/>
          <p:nvPr/>
        </p:nvSpPr>
        <p:spPr>
          <a:xfrm>
            <a:off x="5959078" y="1067678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6" name="Google Shape;96;p25"/>
          <p:cNvSpPr/>
          <p:nvPr/>
        </p:nvSpPr>
        <p:spPr>
          <a:xfrm>
            <a:off x="3507825" y="1831272"/>
            <a:ext cx="2474700" cy="445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dist="63500" dir="2700000" algn="tl" rotWithShape="0">
              <a:srgbClr val="7F7F7F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7" name="Google Shape;97;p25"/>
          <p:cNvSpPr/>
          <p:nvPr/>
        </p:nvSpPr>
        <p:spPr>
          <a:xfrm>
            <a:off x="806250" y="1831272"/>
            <a:ext cx="2474700" cy="445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dist="63500" dir="2700000" algn="tl" rotWithShape="0">
              <a:srgbClr val="7F7F7F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8" name="Google Shape;98;p25"/>
          <p:cNvSpPr/>
          <p:nvPr/>
        </p:nvSpPr>
        <p:spPr>
          <a:xfrm>
            <a:off x="6209400" y="1831272"/>
            <a:ext cx="2474700" cy="445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dist="63500" dir="2700000" algn="tl" rotWithShape="0">
              <a:srgbClr val="7F7F7F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9" name="Google Shape;99;p25"/>
          <p:cNvSpPr/>
          <p:nvPr/>
        </p:nvSpPr>
        <p:spPr>
          <a:xfrm>
            <a:off x="8910975" y="1831272"/>
            <a:ext cx="2474700" cy="445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dist="63500" dir="2700000" algn="tl" rotWithShape="0">
              <a:srgbClr val="7F7F7F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0" name="Google Shape;100;p25"/>
          <p:cNvSpPr/>
          <p:nvPr/>
        </p:nvSpPr>
        <p:spPr>
          <a:xfrm>
            <a:off x="1572678" y="1360326"/>
            <a:ext cx="942000" cy="942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762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1" name="Google Shape;101;p25"/>
          <p:cNvSpPr/>
          <p:nvPr/>
        </p:nvSpPr>
        <p:spPr>
          <a:xfrm>
            <a:off x="4274253" y="1360326"/>
            <a:ext cx="942000" cy="942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762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2" name="Google Shape;102;p25"/>
          <p:cNvSpPr/>
          <p:nvPr/>
        </p:nvSpPr>
        <p:spPr>
          <a:xfrm>
            <a:off x="6975827" y="1360326"/>
            <a:ext cx="942000" cy="942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762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3" name="Google Shape;103;p25"/>
          <p:cNvSpPr/>
          <p:nvPr/>
        </p:nvSpPr>
        <p:spPr>
          <a:xfrm>
            <a:off x="9677400" y="1360326"/>
            <a:ext cx="942000" cy="942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762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4" name="Google Shape;104;p25"/>
          <p:cNvSpPr txBox="1"/>
          <p:nvPr/>
        </p:nvSpPr>
        <p:spPr>
          <a:xfrm>
            <a:off x="1031500" y="3042755"/>
            <a:ext cx="20244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Everything at OWASP is radically transparent from our finances to our code.</a:t>
            </a:r>
            <a:endParaRPr/>
          </a:p>
        </p:txBody>
      </p:sp>
      <p:sp>
        <p:nvSpPr>
          <p:cNvPr id="105" name="Google Shape;105;p25"/>
          <p:cNvSpPr txBox="1"/>
          <p:nvPr/>
        </p:nvSpPr>
        <p:spPr>
          <a:xfrm>
            <a:off x="1031490" y="2642432"/>
            <a:ext cx="202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Open</a:t>
            </a:r>
            <a:endParaRPr/>
          </a:p>
        </p:txBody>
      </p:sp>
      <p:sp>
        <p:nvSpPr>
          <p:cNvPr id="106" name="Google Shape;106;p25"/>
          <p:cNvSpPr txBox="1"/>
          <p:nvPr/>
        </p:nvSpPr>
        <p:spPr>
          <a:xfrm>
            <a:off x="3733076" y="3042755"/>
            <a:ext cx="20244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We encourage and support innovation and experiments for solutions to software security challenges.</a:t>
            </a:r>
            <a:endParaRPr/>
          </a:p>
        </p:txBody>
      </p:sp>
      <p:sp>
        <p:nvSpPr>
          <p:cNvPr id="107" name="Google Shape;107;p25"/>
          <p:cNvSpPr txBox="1"/>
          <p:nvPr/>
        </p:nvSpPr>
        <p:spPr>
          <a:xfrm>
            <a:off x="3733065" y="2642432"/>
            <a:ext cx="202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Innovative</a:t>
            </a:r>
            <a:endParaRPr/>
          </a:p>
        </p:txBody>
      </p:sp>
      <p:sp>
        <p:nvSpPr>
          <p:cNvPr id="108" name="Google Shape;108;p25"/>
          <p:cNvSpPr txBox="1"/>
          <p:nvPr/>
        </p:nvSpPr>
        <p:spPr>
          <a:xfrm>
            <a:off x="6434651" y="3042755"/>
            <a:ext cx="2024400" cy="21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Anyone around the world is encouraged to participate in the OWASP community.</a:t>
            </a:r>
            <a:endParaRPr/>
          </a:p>
        </p:txBody>
      </p:sp>
      <p:sp>
        <p:nvSpPr>
          <p:cNvPr id="109" name="Google Shape;109;p25"/>
          <p:cNvSpPr txBox="1"/>
          <p:nvPr/>
        </p:nvSpPr>
        <p:spPr>
          <a:xfrm>
            <a:off x="6434639" y="2642432"/>
            <a:ext cx="202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Global</a:t>
            </a:r>
            <a:endParaRPr/>
          </a:p>
        </p:txBody>
      </p:sp>
      <p:sp>
        <p:nvSpPr>
          <p:cNvPr id="110" name="Google Shape;110;p25"/>
          <p:cNvSpPr txBox="1"/>
          <p:nvPr/>
        </p:nvSpPr>
        <p:spPr>
          <a:xfrm>
            <a:off x="9136225" y="3042755"/>
            <a:ext cx="20244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Our community is respectful, supportive, truthful, and vendor neutral.</a:t>
            </a:r>
            <a:endParaRPr/>
          </a:p>
        </p:txBody>
      </p:sp>
      <p:sp>
        <p:nvSpPr>
          <p:cNvPr id="111" name="Google Shape;111;p25"/>
          <p:cNvSpPr txBox="1"/>
          <p:nvPr/>
        </p:nvSpPr>
        <p:spPr>
          <a:xfrm>
            <a:off x="9136212" y="2642432"/>
            <a:ext cx="202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Integrity</a:t>
            </a:r>
            <a:endParaRPr/>
          </a:p>
        </p:txBody>
      </p:sp>
      <p:sp>
        <p:nvSpPr>
          <p:cNvPr id="112" name="Google Shape;112;p25"/>
          <p:cNvSpPr/>
          <p:nvPr/>
        </p:nvSpPr>
        <p:spPr>
          <a:xfrm>
            <a:off x="7211503" y="1596225"/>
            <a:ext cx="470569" cy="470122"/>
          </a:xfrm>
          <a:custGeom>
            <a:avLst/>
            <a:gdLst/>
            <a:ahLst/>
            <a:cxnLst/>
            <a:rect l="l" t="t" r="r" b="b"/>
            <a:pathLst>
              <a:path w="470569" h="470122" extrusionOk="0">
                <a:moveTo>
                  <a:pt x="320164" y="407893"/>
                </a:moveTo>
                <a:cubicBezTo>
                  <a:pt x="315342" y="415126"/>
                  <a:pt x="311094" y="421786"/>
                  <a:pt x="306731" y="428330"/>
                </a:cubicBezTo>
                <a:cubicBezTo>
                  <a:pt x="306846" y="428560"/>
                  <a:pt x="307075" y="428904"/>
                  <a:pt x="307190" y="429134"/>
                </a:cubicBezTo>
                <a:cubicBezTo>
                  <a:pt x="314194" y="426034"/>
                  <a:pt x="321312" y="422819"/>
                  <a:pt x="328775" y="419489"/>
                </a:cubicBezTo>
                <a:cubicBezTo>
                  <a:pt x="325675" y="415356"/>
                  <a:pt x="323034" y="411797"/>
                  <a:pt x="320164" y="407893"/>
                </a:cubicBezTo>
                <a:close/>
                <a:moveTo>
                  <a:pt x="282964" y="356457"/>
                </a:moveTo>
                <a:cubicBezTo>
                  <a:pt x="271828" y="357146"/>
                  <a:pt x="260805" y="358064"/>
                  <a:pt x="249554" y="358983"/>
                </a:cubicBezTo>
                <a:cubicBezTo>
                  <a:pt x="249439" y="385964"/>
                  <a:pt x="249439" y="412715"/>
                  <a:pt x="249439" y="440730"/>
                </a:cubicBezTo>
                <a:cubicBezTo>
                  <a:pt x="255180" y="437400"/>
                  <a:pt x="260576" y="434874"/>
                  <a:pt x="265168" y="431315"/>
                </a:cubicBezTo>
                <a:cubicBezTo>
                  <a:pt x="281242" y="419260"/>
                  <a:pt x="291805" y="402841"/>
                  <a:pt x="300646" y="385160"/>
                </a:cubicBezTo>
                <a:cubicBezTo>
                  <a:pt x="301220" y="384012"/>
                  <a:pt x="300760" y="381945"/>
                  <a:pt x="300072" y="380797"/>
                </a:cubicBezTo>
                <a:cubicBezTo>
                  <a:pt x="295479" y="373219"/>
                  <a:pt x="290772" y="365757"/>
                  <a:pt x="285949" y="358408"/>
                </a:cubicBezTo>
                <a:cubicBezTo>
                  <a:pt x="285375" y="357490"/>
                  <a:pt x="283883" y="356342"/>
                  <a:pt x="282964" y="356457"/>
                </a:cubicBezTo>
                <a:close/>
                <a:moveTo>
                  <a:pt x="156440" y="352783"/>
                </a:moveTo>
                <a:cubicBezTo>
                  <a:pt x="159540" y="360705"/>
                  <a:pt x="162410" y="368397"/>
                  <a:pt x="165740" y="375975"/>
                </a:cubicBezTo>
                <a:cubicBezTo>
                  <a:pt x="173777" y="394116"/>
                  <a:pt x="183651" y="411108"/>
                  <a:pt x="198003" y="425115"/>
                </a:cubicBezTo>
                <a:cubicBezTo>
                  <a:pt x="204662" y="431660"/>
                  <a:pt x="212239" y="436941"/>
                  <a:pt x="221424" y="439926"/>
                </a:cubicBezTo>
                <a:cubicBezTo>
                  <a:pt x="221424" y="412715"/>
                  <a:pt x="221424" y="385849"/>
                  <a:pt x="221424" y="359557"/>
                </a:cubicBezTo>
                <a:cubicBezTo>
                  <a:pt x="199610" y="357260"/>
                  <a:pt x="178369" y="355079"/>
                  <a:pt x="156440" y="352783"/>
                </a:cubicBezTo>
                <a:close/>
                <a:moveTo>
                  <a:pt x="41053" y="305939"/>
                </a:moveTo>
                <a:cubicBezTo>
                  <a:pt x="48745" y="349912"/>
                  <a:pt x="119011" y="420178"/>
                  <a:pt x="164821" y="429478"/>
                </a:cubicBezTo>
                <a:cubicBezTo>
                  <a:pt x="162296" y="425689"/>
                  <a:pt x="159770" y="422360"/>
                  <a:pt x="157474" y="418800"/>
                </a:cubicBezTo>
                <a:cubicBezTo>
                  <a:pt x="143466" y="397330"/>
                  <a:pt x="133937" y="373908"/>
                  <a:pt x="127048" y="349338"/>
                </a:cubicBezTo>
                <a:cubicBezTo>
                  <a:pt x="126129" y="346009"/>
                  <a:pt x="124522" y="344286"/>
                  <a:pt x="121078" y="343368"/>
                </a:cubicBezTo>
                <a:cubicBezTo>
                  <a:pt x="100067" y="337512"/>
                  <a:pt x="79860" y="329705"/>
                  <a:pt x="61030" y="318683"/>
                </a:cubicBezTo>
                <a:cubicBezTo>
                  <a:pt x="54256" y="314664"/>
                  <a:pt x="47712" y="310187"/>
                  <a:pt x="41053" y="305939"/>
                </a:cubicBezTo>
                <a:close/>
                <a:moveTo>
                  <a:pt x="373093" y="303872"/>
                </a:moveTo>
                <a:cubicBezTo>
                  <a:pt x="365630" y="303987"/>
                  <a:pt x="359430" y="310302"/>
                  <a:pt x="359430" y="317765"/>
                </a:cubicBezTo>
                <a:cubicBezTo>
                  <a:pt x="359545" y="325228"/>
                  <a:pt x="365860" y="331428"/>
                  <a:pt x="373323" y="331428"/>
                </a:cubicBezTo>
                <a:cubicBezTo>
                  <a:pt x="380786" y="331313"/>
                  <a:pt x="386986" y="324998"/>
                  <a:pt x="386986" y="317535"/>
                </a:cubicBezTo>
                <a:cubicBezTo>
                  <a:pt x="386871" y="310072"/>
                  <a:pt x="380556" y="303872"/>
                  <a:pt x="373093" y="303872"/>
                </a:cubicBezTo>
                <a:close/>
                <a:moveTo>
                  <a:pt x="374012" y="276317"/>
                </a:moveTo>
                <a:cubicBezTo>
                  <a:pt x="396860" y="277121"/>
                  <a:pt x="415115" y="296065"/>
                  <a:pt x="414541" y="318224"/>
                </a:cubicBezTo>
                <a:cubicBezTo>
                  <a:pt x="413852" y="341072"/>
                  <a:pt x="395022" y="359442"/>
                  <a:pt x="372749" y="358868"/>
                </a:cubicBezTo>
                <a:cubicBezTo>
                  <a:pt x="349786" y="358294"/>
                  <a:pt x="331186" y="339005"/>
                  <a:pt x="331990" y="316731"/>
                </a:cubicBezTo>
                <a:cubicBezTo>
                  <a:pt x="332909" y="293769"/>
                  <a:pt x="351853" y="275628"/>
                  <a:pt x="374012" y="276317"/>
                </a:cubicBezTo>
                <a:close/>
                <a:moveTo>
                  <a:pt x="366762" y="248975"/>
                </a:moveTo>
                <a:cubicBezTo>
                  <a:pt x="355160" y="249974"/>
                  <a:pt x="343643" y="253986"/>
                  <a:pt x="333367" y="261506"/>
                </a:cubicBezTo>
                <a:cubicBezTo>
                  <a:pt x="300990" y="285157"/>
                  <a:pt x="295020" y="327524"/>
                  <a:pt x="319360" y="360475"/>
                </a:cubicBezTo>
                <a:cubicBezTo>
                  <a:pt x="336467" y="383667"/>
                  <a:pt x="353575" y="406630"/>
                  <a:pt x="370797" y="429708"/>
                </a:cubicBezTo>
                <a:cubicBezTo>
                  <a:pt x="371371" y="430741"/>
                  <a:pt x="372174" y="431660"/>
                  <a:pt x="373323" y="433037"/>
                </a:cubicBezTo>
                <a:cubicBezTo>
                  <a:pt x="374011" y="432234"/>
                  <a:pt x="374241" y="431889"/>
                  <a:pt x="374585" y="431545"/>
                </a:cubicBezTo>
                <a:cubicBezTo>
                  <a:pt x="392726" y="407434"/>
                  <a:pt x="410981" y="383553"/>
                  <a:pt x="428892" y="359327"/>
                </a:cubicBezTo>
                <a:cubicBezTo>
                  <a:pt x="440144" y="344057"/>
                  <a:pt x="444736" y="326835"/>
                  <a:pt x="442211" y="307890"/>
                </a:cubicBezTo>
                <a:cubicBezTo>
                  <a:pt x="437130" y="270088"/>
                  <a:pt x="401567" y="245977"/>
                  <a:pt x="366762" y="248975"/>
                </a:cubicBezTo>
                <a:close/>
                <a:moveTo>
                  <a:pt x="116830" y="156451"/>
                </a:moveTo>
                <a:cubicBezTo>
                  <a:pt x="113615" y="157599"/>
                  <a:pt x="110400" y="158518"/>
                  <a:pt x="107300" y="159781"/>
                </a:cubicBezTo>
                <a:cubicBezTo>
                  <a:pt x="85600" y="168392"/>
                  <a:pt x="64819" y="178610"/>
                  <a:pt x="47597" y="194914"/>
                </a:cubicBezTo>
                <a:cubicBezTo>
                  <a:pt x="22338" y="218680"/>
                  <a:pt x="20960" y="246810"/>
                  <a:pt x="44727" y="271839"/>
                </a:cubicBezTo>
                <a:cubicBezTo>
                  <a:pt x="64819" y="293080"/>
                  <a:pt x="90882" y="304102"/>
                  <a:pt x="118437" y="314090"/>
                </a:cubicBezTo>
                <a:cubicBezTo>
                  <a:pt x="109137" y="261161"/>
                  <a:pt x="109137" y="208806"/>
                  <a:pt x="118322" y="156451"/>
                </a:cubicBezTo>
                <a:cubicBezTo>
                  <a:pt x="117404" y="156451"/>
                  <a:pt x="117174" y="156336"/>
                  <a:pt x="116830" y="156451"/>
                </a:cubicBezTo>
                <a:close/>
                <a:moveTo>
                  <a:pt x="353345" y="156107"/>
                </a:moveTo>
                <a:cubicBezTo>
                  <a:pt x="355641" y="178266"/>
                  <a:pt x="357823" y="200080"/>
                  <a:pt x="360004" y="222010"/>
                </a:cubicBezTo>
                <a:cubicBezTo>
                  <a:pt x="391233" y="218565"/>
                  <a:pt x="418444" y="227406"/>
                  <a:pt x="442096" y="249450"/>
                </a:cubicBezTo>
                <a:cubicBezTo>
                  <a:pt x="444507" y="233147"/>
                  <a:pt x="442555" y="218680"/>
                  <a:pt x="432796" y="206051"/>
                </a:cubicBezTo>
                <a:cubicBezTo>
                  <a:pt x="412474" y="179644"/>
                  <a:pt x="383196" y="167359"/>
                  <a:pt x="353345" y="156107"/>
                </a:cubicBezTo>
                <a:close/>
                <a:moveTo>
                  <a:pt x="221424" y="139114"/>
                </a:moveTo>
                <a:cubicBezTo>
                  <a:pt x="208336" y="138311"/>
                  <a:pt x="164018" y="143477"/>
                  <a:pt x="150814" y="147381"/>
                </a:cubicBezTo>
                <a:cubicBezTo>
                  <a:pt x="149551" y="147725"/>
                  <a:pt x="147944" y="149677"/>
                  <a:pt x="147714" y="151055"/>
                </a:cubicBezTo>
                <a:cubicBezTo>
                  <a:pt x="145648" y="162996"/>
                  <a:pt x="143351" y="174821"/>
                  <a:pt x="141974" y="186762"/>
                </a:cubicBezTo>
                <a:cubicBezTo>
                  <a:pt x="136922" y="230850"/>
                  <a:pt x="138644" y="274709"/>
                  <a:pt x="147485" y="318224"/>
                </a:cubicBezTo>
                <a:cubicBezTo>
                  <a:pt x="148059" y="321209"/>
                  <a:pt x="149322" y="322587"/>
                  <a:pt x="152307" y="323046"/>
                </a:cubicBezTo>
                <a:cubicBezTo>
                  <a:pt x="166085" y="324998"/>
                  <a:pt x="179747" y="327524"/>
                  <a:pt x="193525" y="329246"/>
                </a:cubicBezTo>
                <a:cubicBezTo>
                  <a:pt x="202710" y="330394"/>
                  <a:pt x="212010" y="330624"/>
                  <a:pt x="221424" y="331312"/>
                </a:cubicBezTo>
                <a:cubicBezTo>
                  <a:pt x="221424" y="266787"/>
                  <a:pt x="221424" y="202951"/>
                  <a:pt x="221424" y="139114"/>
                </a:cubicBezTo>
                <a:close/>
                <a:moveTo>
                  <a:pt x="249554" y="138540"/>
                </a:moveTo>
                <a:cubicBezTo>
                  <a:pt x="249554" y="203066"/>
                  <a:pt x="249554" y="267017"/>
                  <a:pt x="249554" y="331198"/>
                </a:cubicBezTo>
                <a:cubicBezTo>
                  <a:pt x="258165" y="330624"/>
                  <a:pt x="266431" y="330050"/>
                  <a:pt x="274583" y="329475"/>
                </a:cubicBezTo>
                <a:cubicBezTo>
                  <a:pt x="275387" y="329475"/>
                  <a:pt x="276076" y="329361"/>
                  <a:pt x="277224" y="329246"/>
                </a:cubicBezTo>
                <a:cubicBezTo>
                  <a:pt x="277224" y="327753"/>
                  <a:pt x="277224" y="326720"/>
                  <a:pt x="277224" y="325687"/>
                </a:cubicBezTo>
                <a:cubicBezTo>
                  <a:pt x="274927" y="284124"/>
                  <a:pt x="292379" y="253354"/>
                  <a:pt x="328086" y="232573"/>
                </a:cubicBezTo>
                <a:cubicBezTo>
                  <a:pt x="330842" y="230965"/>
                  <a:pt x="331990" y="229473"/>
                  <a:pt x="331875" y="226258"/>
                </a:cubicBezTo>
                <a:cubicBezTo>
                  <a:pt x="331071" y="201114"/>
                  <a:pt x="328545" y="176199"/>
                  <a:pt x="323608" y="151514"/>
                </a:cubicBezTo>
                <a:cubicBezTo>
                  <a:pt x="323034" y="148414"/>
                  <a:pt x="321542" y="147266"/>
                  <a:pt x="318556" y="146807"/>
                </a:cubicBezTo>
                <a:cubicBezTo>
                  <a:pt x="304779" y="144740"/>
                  <a:pt x="291116" y="142329"/>
                  <a:pt x="277338" y="140607"/>
                </a:cubicBezTo>
                <a:cubicBezTo>
                  <a:pt x="268153" y="139459"/>
                  <a:pt x="258854" y="139229"/>
                  <a:pt x="249554" y="138540"/>
                </a:cubicBezTo>
                <a:close/>
                <a:moveTo>
                  <a:pt x="305927" y="40489"/>
                </a:moveTo>
                <a:cubicBezTo>
                  <a:pt x="307305" y="42441"/>
                  <a:pt x="308568" y="44163"/>
                  <a:pt x="309716" y="45886"/>
                </a:cubicBezTo>
                <a:cubicBezTo>
                  <a:pt x="310979" y="47608"/>
                  <a:pt x="312242" y="49330"/>
                  <a:pt x="313390" y="51167"/>
                </a:cubicBezTo>
                <a:cubicBezTo>
                  <a:pt x="327282" y="72522"/>
                  <a:pt x="336812" y="95715"/>
                  <a:pt x="343701" y="120170"/>
                </a:cubicBezTo>
                <a:cubicBezTo>
                  <a:pt x="344734" y="123844"/>
                  <a:pt x="346571" y="125681"/>
                  <a:pt x="350245" y="126715"/>
                </a:cubicBezTo>
                <a:cubicBezTo>
                  <a:pt x="374585" y="133603"/>
                  <a:pt x="397892" y="143133"/>
                  <a:pt x="419248" y="157025"/>
                </a:cubicBezTo>
                <a:cubicBezTo>
                  <a:pt x="422807" y="159207"/>
                  <a:pt x="426251" y="161733"/>
                  <a:pt x="429925" y="164259"/>
                </a:cubicBezTo>
                <a:cubicBezTo>
                  <a:pt x="421200" y="119022"/>
                  <a:pt x="350934" y="48756"/>
                  <a:pt x="305927" y="40489"/>
                </a:cubicBezTo>
                <a:close/>
                <a:moveTo>
                  <a:pt x="163903" y="40145"/>
                </a:moveTo>
                <a:cubicBezTo>
                  <a:pt x="135314" y="50708"/>
                  <a:pt x="110170" y="66782"/>
                  <a:pt x="88586" y="88482"/>
                </a:cubicBezTo>
                <a:cubicBezTo>
                  <a:pt x="67115" y="110067"/>
                  <a:pt x="51041" y="134981"/>
                  <a:pt x="40249" y="164718"/>
                </a:cubicBezTo>
                <a:cubicBezTo>
                  <a:pt x="44842" y="161503"/>
                  <a:pt x="48401" y="158977"/>
                  <a:pt x="51960" y="156681"/>
                </a:cubicBezTo>
                <a:cubicBezTo>
                  <a:pt x="73086" y="142788"/>
                  <a:pt x="96278" y="133489"/>
                  <a:pt x="120504" y="126600"/>
                </a:cubicBezTo>
                <a:cubicBezTo>
                  <a:pt x="124407" y="125452"/>
                  <a:pt x="126015" y="123500"/>
                  <a:pt x="127278" y="119711"/>
                </a:cubicBezTo>
                <a:cubicBezTo>
                  <a:pt x="132559" y="104785"/>
                  <a:pt x="137611" y="89630"/>
                  <a:pt x="144155" y="75163"/>
                </a:cubicBezTo>
                <a:cubicBezTo>
                  <a:pt x="149666" y="63223"/>
                  <a:pt x="157129" y="51971"/>
                  <a:pt x="163903" y="40145"/>
                </a:cubicBezTo>
                <a:close/>
                <a:moveTo>
                  <a:pt x="249324" y="30041"/>
                </a:moveTo>
                <a:cubicBezTo>
                  <a:pt x="249324" y="57252"/>
                  <a:pt x="249324" y="84004"/>
                  <a:pt x="249324" y="110411"/>
                </a:cubicBezTo>
                <a:cubicBezTo>
                  <a:pt x="271024" y="112592"/>
                  <a:pt x="292379" y="114889"/>
                  <a:pt x="314423" y="117185"/>
                </a:cubicBezTo>
                <a:cubicBezTo>
                  <a:pt x="311323" y="109263"/>
                  <a:pt x="308453" y="101570"/>
                  <a:pt x="305123" y="93993"/>
                </a:cubicBezTo>
                <a:cubicBezTo>
                  <a:pt x="297086" y="75852"/>
                  <a:pt x="287213" y="58860"/>
                  <a:pt x="272861" y="44852"/>
                </a:cubicBezTo>
                <a:cubicBezTo>
                  <a:pt x="266202" y="38308"/>
                  <a:pt x="258624" y="33027"/>
                  <a:pt x="249324" y="30041"/>
                </a:cubicBezTo>
                <a:close/>
                <a:moveTo>
                  <a:pt x="221424" y="30041"/>
                </a:moveTo>
                <a:cubicBezTo>
                  <a:pt x="212010" y="33141"/>
                  <a:pt x="204432" y="38423"/>
                  <a:pt x="197773" y="44967"/>
                </a:cubicBezTo>
                <a:cubicBezTo>
                  <a:pt x="179862" y="62648"/>
                  <a:pt x="168840" y="84578"/>
                  <a:pt x="159999" y="107770"/>
                </a:cubicBezTo>
                <a:cubicBezTo>
                  <a:pt x="158851" y="110870"/>
                  <a:pt x="157703" y="114200"/>
                  <a:pt x="156670" y="117070"/>
                </a:cubicBezTo>
                <a:cubicBezTo>
                  <a:pt x="178484" y="114774"/>
                  <a:pt x="199840" y="112592"/>
                  <a:pt x="221310" y="110411"/>
                </a:cubicBezTo>
                <a:cubicBezTo>
                  <a:pt x="221424" y="83774"/>
                  <a:pt x="221424" y="57137"/>
                  <a:pt x="221424" y="30041"/>
                </a:cubicBezTo>
                <a:close/>
                <a:moveTo>
                  <a:pt x="211073" y="1070"/>
                </a:moveTo>
                <a:cubicBezTo>
                  <a:pt x="226627" y="-406"/>
                  <a:pt x="242636" y="-356"/>
                  <a:pt x="259083" y="1223"/>
                </a:cubicBezTo>
                <a:cubicBezTo>
                  <a:pt x="305697" y="5701"/>
                  <a:pt x="347260" y="23153"/>
                  <a:pt x="383426" y="52889"/>
                </a:cubicBezTo>
                <a:cubicBezTo>
                  <a:pt x="428318" y="89859"/>
                  <a:pt x="456332" y="137163"/>
                  <a:pt x="466666" y="194569"/>
                </a:cubicBezTo>
                <a:cubicBezTo>
                  <a:pt x="468273" y="203410"/>
                  <a:pt x="469077" y="212366"/>
                  <a:pt x="470340" y="221321"/>
                </a:cubicBezTo>
                <a:cubicBezTo>
                  <a:pt x="470340" y="230850"/>
                  <a:pt x="470340" y="240265"/>
                  <a:pt x="470340" y="249795"/>
                </a:cubicBezTo>
                <a:cubicBezTo>
                  <a:pt x="469421" y="256798"/>
                  <a:pt x="468503" y="263917"/>
                  <a:pt x="467584" y="270920"/>
                </a:cubicBezTo>
                <a:cubicBezTo>
                  <a:pt x="466895" y="275972"/>
                  <a:pt x="464714" y="281254"/>
                  <a:pt x="465288" y="286076"/>
                </a:cubicBezTo>
                <a:cubicBezTo>
                  <a:pt x="466206" y="293539"/>
                  <a:pt x="468732" y="301002"/>
                  <a:pt x="470569" y="308465"/>
                </a:cubicBezTo>
                <a:cubicBezTo>
                  <a:pt x="470569" y="314550"/>
                  <a:pt x="470569" y="320750"/>
                  <a:pt x="470569" y="326835"/>
                </a:cubicBezTo>
                <a:cubicBezTo>
                  <a:pt x="470340" y="327409"/>
                  <a:pt x="469880" y="327868"/>
                  <a:pt x="469880" y="328442"/>
                </a:cubicBezTo>
                <a:cubicBezTo>
                  <a:pt x="467929" y="347272"/>
                  <a:pt x="460351" y="363690"/>
                  <a:pt x="448984" y="378616"/>
                </a:cubicBezTo>
                <a:cubicBezTo>
                  <a:pt x="428433" y="405712"/>
                  <a:pt x="408226" y="432923"/>
                  <a:pt x="387559" y="459904"/>
                </a:cubicBezTo>
                <a:cubicBezTo>
                  <a:pt x="384574" y="463807"/>
                  <a:pt x="380441" y="466678"/>
                  <a:pt x="376882" y="470122"/>
                </a:cubicBezTo>
                <a:cubicBezTo>
                  <a:pt x="374471" y="470122"/>
                  <a:pt x="371945" y="470122"/>
                  <a:pt x="369534" y="470122"/>
                </a:cubicBezTo>
                <a:cubicBezTo>
                  <a:pt x="365974" y="466793"/>
                  <a:pt x="361956" y="463693"/>
                  <a:pt x="358856" y="459904"/>
                </a:cubicBezTo>
                <a:cubicBezTo>
                  <a:pt x="354034" y="454163"/>
                  <a:pt x="349901" y="448078"/>
                  <a:pt x="345308" y="441993"/>
                </a:cubicBezTo>
                <a:cubicBezTo>
                  <a:pt x="343471" y="442911"/>
                  <a:pt x="341978" y="443600"/>
                  <a:pt x="340486" y="444289"/>
                </a:cubicBezTo>
                <a:cubicBezTo>
                  <a:pt x="319016" y="455196"/>
                  <a:pt x="296512" y="462889"/>
                  <a:pt x="272631" y="466793"/>
                </a:cubicBezTo>
                <a:cubicBezTo>
                  <a:pt x="264824" y="468056"/>
                  <a:pt x="257017" y="468974"/>
                  <a:pt x="249094" y="470122"/>
                </a:cubicBezTo>
                <a:cubicBezTo>
                  <a:pt x="239909" y="470122"/>
                  <a:pt x="230724" y="470122"/>
                  <a:pt x="221539" y="470122"/>
                </a:cubicBezTo>
                <a:cubicBezTo>
                  <a:pt x="220047" y="469893"/>
                  <a:pt x="218554" y="469548"/>
                  <a:pt x="217062" y="469318"/>
                </a:cubicBezTo>
                <a:cubicBezTo>
                  <a:pt x="207073" y="467941"/>
                  <a:pt x="196969" y="467137"/>
                  <a:pt x="187095" y="465070"/>
                </a:cubicBezTo>
                <a:cubicBezTo>
                  <a:pt x="126015" y="451637"/>
                  <a:pt x="76989" y="419375"/>
                  <a:pt x="41627" y="367823"/>
                </a:cubicBezTo>
                <a:cubicBezTo>
                  <a:pt x="3738" y="312598"/>
                  <a:pt x="-8202" y="251517"/>
                  <a:pt x="5461" y="185958"/>
                </a:cubicBezTo>
                <a:cubicBezTo>
                  <a:pt x="16368" y="133489"/>
                  <a:pt x="43005" y="89974"/>
                  <a:pt x="83878" y="55530"/>
                </a:cubicBezTo>
                <a:cubicBezTo>
                  <a:pt x="121853" y="23669"/>
                  <a:pt x="164412" y="5500"/>
                  <a:pt x="211073" y="107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3" name="Google Shape;113;p25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13150" y="1596190"/>
            <a:ext cx="470575" cy="47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4155" y="1596200"/>
            <a:ext cx="470300" cy="4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04675" y="1596225"/>
            <a:ext cx="470300" cy="47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/>
          <p:nvPr/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3" name="Google Shape;123;p26"/>
          <p:cNvSpPr txBox="1"/>
          <p:nvPr/>
        </p:nvSpPr>
        <p:spPr>
          <a:xfrm>
            <a:off x="573565" y="1801825"/>
            <a:ext cx="42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OWASP Projects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4" name="Google Shape;124;p26"/>
          <p:cNvSpPr/>
          <p:nvPr/>
        </p:nvSpPr>
        <p:spPr>
          <a:xfrm>
            <a:off x="692739" y="2448155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5" name="Google Shape;125;p26"/>
          <p:cNvSpPr txBox="1"/>
          <p:nvPr/>
        </p:nvSpPr>
        <p:spPr>
          <a:xfrm>
            <a:off x="470695" y="2783100"/>
            <a:ext cx="42042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More than 300 projects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○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○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Documentation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○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Other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All results are released under an open source license and usable in a commercial context for free.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6" name="Google Shape;126;p26"/>
          <p:cNvSpPr/>
          <p:nvPr/>
        </p:nvSpPr>
        <p:spPr>
          <a:xfrm>
            <a:off x="5181600" y="0"/>
            <a:ext cx="7010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27" name="Google Shape;1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9712" y="1608400"/>
            <a:ext cx="6694175" cy="330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6"/>
          <p:cNvSpPr txBox="1"/>
          <p:nvPr/>
        </p:nvSpPr>
        <p:spPr>
          <a:xfrm>
            <a:off x="6096000" y="5090175"/>
            <a:ext cx="518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CCCCC"/>
                </a:solidFill>
              </a:rPr>
              <a:t>Flagship &amp; Production OWASP Projects</a:t>
            </a:r>
            <a:endParaRPr sz="1600">
              <a:solidFill>
                <a:srgbClr val="CCCCCC"/>
              </a:solidFill>
            </a:endParaRPr>
          </a:p>
        </p:txBody>
      </p:sp>
      <p:sp>
        <p:nvSpPr>
          <p:cNvPr id="129" name="Google Shape;129;p26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30" name="Google Shape;13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/>
          <p:nvPr/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36" name="Google Shape;136;p27"/>
          <p:cNvSpPr txBox="1"/>
          <p:nvPr/>
        </p:nvSpPr>
        <p:spPr>
          <a:xfrm>
            <a:off x="573565" y="1801825"/>
            <a:ext cx="42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OWASP Top 10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7" name="Google Shape;137;p27"/>
          <p:cNvSpPr/>
          <p:nvPr/>
        </p:nvSpPr>
        <p:spPr>
          <a:xfrm>
            <a:off x="692739" y="2448155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38" name="Google Shape;138;p27"/>
          <p:cNvSpPr/>
          <p:nvPr/>
        </p:nvSpPr>
        <p:spPr>
          <a:xfrm>
            <a:off x="5181600" y="0"/>
            <a:ext cx="7010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39" name="Google Shape;139;p27"/>
          <p:cNvSpPr txBox="1"/>
          <p:nvPr/>
        </p:nvSpPr>
        <p:spPr>
          <a:xfrm>
            <a:off x="470695" y="2783100"/>
            <a:ext cx="4204200" cy="3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most well known OWASP project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Showcases the most important 10 application security risks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 de facto industry AppSec standard since its inception in 2003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Primarily an awareness document (don’t stop at 10)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F64A9"/>
                </a:solidFill>
                <a:latin typeface="Poppins Light"/>
                <a:ea typeface="Poppins Light"/>
                <a:cs typeface="Poppins Light"/>
                <a:sym typeface="Poppins Light"/>
              </a:rPr>
              <a:t>(more on this will be presented by Marco)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40" name="Google Shape;14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1600" y="1410450"/>
            <a:ext cx="7010400" cy="383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42" name="Google Shape;14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/>
          <p:nvPr/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573565" y="1268425"/>
            <a:ext cx="42612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OWASP</a:t>
            </a:r>
            <a:b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Cheat Sheet Series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9" name="Google Shape;149;p28"/>
          <p:cNvSpPr/>
          <p:nvPr/>
        </p:nvSpPr>
        <p:spPr>
          <a:xfrm>
            <a:off x="692739" y="2448155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0" name="Google Shape;150;p28"/>
          <p:cNvSpPr/>
          <p:nvPr/>
        </p:nvSpPr>
        <p:spPr>
          <a:xfrm>
            <a:off x="5181600" y="0"/>
            <a:ext cx="7010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51" name="Google Shape;15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1601" y="510534"/>
            <a:ext cx="7010401" cy="540841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8"/>
          <p:cNvSpPr txBox="1"/>
          <p:nvPr/>
        </p:nvSpPr>
        <p:spPr>
          <a:xfrm>
            <a:off x="470700" y="2783100"/>
            <a:ext cx="4364100" cy="3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 concise collection of high value information on specific application security topics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91 cheat sheets available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○"/>
            </a:pPr>
            <a:r>
              <a:rPr lang="en-US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Authentication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○"/>
            </a:pPr>
            <a:r>
              <a:rPr lang="en-US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Authorization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○"/>
            </a:pPr>
            <a:r>
              <a:rPr lang="en-US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CI/CD Security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○"/>
            </a:pPr>
            <a:r>
              <a:rPr lang="en-US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Docker Security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○"/>
            </a:pPr>
            <a:r>
              <a:rPr lang="en-US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DotNet Security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○"/>
            </a:pPr>
            <a:r>
              <a:rPr lang="en-US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Kubernetes Security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○"/>
            </a:pPr>
            <a:r>
              <a:rPr lang="en-US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Logging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○"/>
            </a:pPr>
            <a:r>
              <a:rPr lang="en-US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SAML Security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○"/>
            </a:pPr>
            <a:r>
              <a:rPr lang="en-US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XML Security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○"/>
            </a:pPr>
            <a:r>
              <a:rPr lang="en-US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….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3" name="Google Shape;153;p28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54" name="Google Shape;15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/>
          <p:nvPr/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0" name="Google Shape;160;p29"/>
          <p:cNvSpPr txBox="1"/>
          <p:nvPr/>
        </p:nvSpPr>
        <p:spPr>
          <a:xfrm>
            <a:off x="573565" y="201625"/>
            <a:ext cx="42612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OWASP Application Security Verification Standard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1" name="Google Shape;161;p29"/>
          <p:cNvSpPr/>
          <p:nvPr/>
        </p:nvSpPr>
        <p:spPr>
          <a:xfrm>
            <a:off x="692739" y="2448155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2" name="Google Shape;162;p29"/>
          <p:cNvSpPr txBox="1"/>
          <p:nvPr/>
        </p:nvSpPr>
        <p:spPr>
          <a:xfrm>
            <a:off x="573600" y="2783100"/>
            <a:ext cx="42612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Provides a basis for testing web application technical security controls and also provides developers with a list of requirements for secure development</a:t>
            </a:r>
            <a:endParaRPr sz="1500">
              <a:solidFill>
                <a:srgbClr val="4F64A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3" name="Google Shape;163;p29"/>
          <p:cNvSpPr/>
          <p:nvPr/>
        </p:nvSpPr>
        <p:spPr>
          <a:xfrm>
            <a:off x="5181600" y="0"/>
            <a:ext cx="7010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6096000" y="5928375"/>
            <a:ext cx="518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CCCCC"/>
                </a:solidFill>
              </a:rPr>
              <a:t>Some example controls out of the OWASP ASVS</a:t>
            </a:r>
            <a:endParaRPr sz="1600">
              <a:solidFill>
                <a:srgbClr val="CCCCCC"/>
              </a:solidFill>
            </a:endParaRPr>
          </a:p>
        </p:txBody>
      </p:sp>
      <p:pic>
        <p:nvPicPr>
          <p:cNvPr id="165" name="Google Shape;165;p29"/>
          <p:cNvPicPr preferRelativeResize="0"/>
          <p:nvPr/>
        </p:nvPicPr>
        <p:blipFill rotWithShape="1">
          <a:blip r:embed="rId3">
            <a:alphaModFix/>
          </a:blip>
          <a:srcRect b="28607"/>
          <a:stretch/>
        </p:blipFill>
        <p:spPr>
          <a:xfrm>
            <a:off x="5619775" y="811225"/>
            <a:ext cx="6134051" cy="489614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9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67" name="Google Shape;16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/>
          <p:nvPr/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73" name="Google Shape;173;p30"/>
          <p:cNvSpPr txBox="1"/>
          <p:nvPr/>
        </p:nvSpPr>
        <p:spPr>
          <a:xfrm>
            <a:off x="573565" y="735025"/>
            <a:ext cx="42612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OWASP Software Assurance Maturity Model (SAMM)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4" name="Google Shape;174;p30"/>
          <p:cNvSpPr/>
          <p:nvPr/>
        </p:nvSpPr>
        <p:spPr>
          <a:xfrm>
            <a:off x="692739" y="2448155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75" name="Google Shape;175;p30"/>
          <p:cNvSpPr/>
          <p:nvPr/>
        </p:nvSpPr>
        <p:spPr>
          <a:xfrm>
            <a:off x="5181600" y="0"/>
            <a:ext cx="7010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76" name="Google Shape;176;p30"/>
          <p:cNvSpPr txBox="1"/>
          <p:nvPr/>
        </p:nvSpPr>
        <p:spPr>
          <a:xfrm>
            <a:off x="470700" y="2783100"/>
            <a:ext cx="4364100" cy="3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Effective and measurable way for you to analyze and improve your secure development lifecycle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Technology and process agnostic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Helps you to build a balanced software security assurance program in well-defined iterations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Define and measure security-related activities throughout an organization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8026" y="1671588"/>
            <a:ext cx="6677550" cy="3514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0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79" name="Google Shape;17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/>
          <p:nvPr/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85" name="Google Shape;185;p31"/>
          <p:cNvSpPr txBox="1"/>
          <p:nvPr/>
        </p:nvSpPr>
        <p:spPr>
          <a:xfrm>
            <a:off x="573565" y="735025"/>
            <a:ext cx="42612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OWASP Mobile Application Security (MAS)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86" name="Google Shape;186;p31"/>
          <p:cNvSpPr/>
          <p:nvPr/>
        </p:nvSpPr>
        <p:spPr>
          <a:xfrm>
            <a:off x="692739" y="2448155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87" name="Google Shape;187;p31"/>
          <p:cNvSpPr txBox="1"/>
          <p:nvPr/>
        </p:nvSpPr>
        <p:spPr>
          <a:xfrm>
            <a:off x="573600" y="2783100"/>
            <a:ext cx="4261200" cy="3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Security standard for mobile apps</a:t>
            </a:r>
            <a:b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en-US" sz="1600">
                <a:solidFill>
                  <a:srgbClr val="4F64A9"/>
                </a:solidFill>
                <a:latin typeface="Poppins Light"/>
                <a:ea typeface="Poppins Light"/>
                <a:cs typeface="Poppins Light"/>
                <a:sym typeface="Poppins Light"/>
              </a:rPr>
              <a:t>(OWASP MASVS)</a:t>
            </a:r>
            <a:b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and a</a:t>
            </a:r>
            <a:b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Comprehensive testing guide</a:t>
            </a:r>
            <a:b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en-US" sz="1600">
                <a:solidFill>
                  <a:srgbClr val="4F64A9"/>
                </a:solidFill>
                <a:latin typeface="Poppins Light"/>
                <a:ea typeface="Poppins Light"/>
                <a:cs typeface="Poppins Light"/>
                <a:sym typeface="Poppins Light"/>
              </a:rPr>
              <a:t>(OWASP MASTG)</a:t>
            </a:r>
            <a:endParaRPr sz="1600">
              <a:solidFill>
                <a:srgbClr val="4F64A9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4F64A9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F64A9"/>
                </a:solidFill>
                <a:latin typeface="Poppins Light"/>
                <a:ea typeface="Poppins Light"/>
                <a:cs typeface="Poppins Light"/>
                <a:sym typeface="Poppins Light"/>
              </a:rPr>
              <a:t>(more on this will be presented by Stefan)</a:t>
            </a:r>
            <a:endParaRPr sz="1500">
              <a:solidFill>
                <a:srgbClr val="4F64A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88" name="Google Shape;188;p31"/>
          <p:cNvSpPr/>
          <p:nvPr/>
        </p:nvSpPr>
        <p:spPr>
          <a:xfrm>
            <a:off x="5181600" y="0"/>
            <a:ext cx="7010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89" name="Google Shape;189;p31"/>
          <p:cNvSpPr txBox="1"/>
          <p:nvPr/>
        </p:nvSpPr>
        <p:spPr>
          <a:xfrm>
            <a:off x="6096000" y="5775975"/>
            <a:ext cx="518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CCCCC"/>
                </a:solidFill>
              </a:rPr>
              <a:t>OWASP Mobile Application Security</a:t>
            </a:r>
            <a:endParaRPr sz="1600">
              <a:solidFill>
                <a:srgbClr val="CCCCCC"/>
              </a:solidFill>
            </a:endParaRPr>
          </a:p>
        </p:txBody>
      </p:sp>
      <p:pic>
        <p:nvPicPr>
          <p:cNvPr id="190" name="Google Shape;19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1255" y="445750"/>
            <a:ext cx="1511100" cy="1514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8520" y="2164075"/>
            <a:ext cx="2343574" cy="3314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06574" y="2164075"/>
            <a:ext cx="2343574" cy="331467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1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94" name="Google Shape;194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/>
          <p:nvPr/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00" name="Google Shape;200;p32"/>
          <p:cNvSpPr txBox="1"/>
          <p:nvPr/>
        </p:nvSpPr>
        <p:spPr>
          <a:xfrm>
            <a:off x="573565" y="1268425"/>
            <a:ext cx="42612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OWASP Dependency-Track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01" name="Google Shape;201;p32"/>
          <p:cNvSpPr/>
          <p:nvPr/>
        </p:nvSpPr>
        <p:spPr>
          <a:xfrm>
            <a:off x="692739" y="2448155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02" name="Google Shape;202;p32"/>
          <p:cNvSpPr/>
          <p:nvPr/>
        </p:nvSpPr>
        <p:spPr>
          <a:xfrm>
            <a:off x="5181600" y="0"/>
            <a:ext cx="7010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03" name="Google Shape;2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1361" y="1078225"/>
            <a:ext cx="6230875" cy="528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2"/>
          <p:cNvSpPr txBox="1"/>
          <p:nvPr/>
        </p:nvSpPr>
        <p:spPr>
          <a:xfrm>
            <a:off x="573600" y="2783100"/>
            <a:ext cx="4261200" cy="21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 component analysis platform that allows organizations to identify and reduce risk in the software supply chain. Dependency-Track helps you by making tracking of Software Bill of Materials (SBOM) a breeze.</a:t>
            </a:r>
            <a:endParaRPr sz="1500">
              <a:solidFill>
                <a:srgbClr val="4F64A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/>
          <p:nvPr/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10" name="Google Shape;210;p33"/>
          <p:cNvSpPr txBox="1"/>
          <p:nvPr/>
        </p:nvSpPr>
        <p:spPr>
          <a:xfrm>
            <a:off x="573565" y="1801825"/>
            <a:ext cx="42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OWASP LLM Top 10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11" name="Google Shape;211;p33"/>
          <p:cNvSpPr/>
          <p:nvPr/>
        </p:nvSpPr>
        <p:spPr>
          <a:xfrm>
            <a:off x="692739" y="2448155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12" name="Google Shape;212;p33"/>
          <p:cNvSpPr/>
          <p:nvPr/>
        </p:nvSpPr>
        <p:spPr>
          <a:xfrm>
            <a:off x="5181600" y="0"/>
            <a:ext cx="7010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13" name="Google Shape;213;p33"/>
          <p:cNvSpPr txBox="1"/>
          <p:nvPr/>
        </p:nvSpPr>
        <p:spPr>
          <a:xfrm>
            <a:off x="573575" y="2783100"/>
            <a:ext cx="4101300" cy="21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Latest Top 10 risks, vulnerabilities and mitigations for developing and securing generative AI and large language model applications across the development, deployment and management lifecycle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14" name="Google Shape;21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2725" y="1228775"/>
            <a:ext cx="6788152" cy="390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3"/>
          <p:cNvSpPr txBox="1"/>
          <p:nvPr/>
        </p:nvSpPr>
        <p:spPr>
          <a:xfrm>
            <a:off x="6096000" y="5318775"/>
            <a:ext cx="518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CCCCC"/>
                </a:solidFill>
              </a:rPr>
              <a:t>OWASP Top 10 for LLMs and Generative AI Apps</a:t>
            </a:r>
            <a:endParaRPr sz="1600">
              <a:solidFill>
                <a:srgbClr val="CCCCCC"/>
              </a:solidFill>
            </a:endParaRPr>
          </a:p>
        </p:txBody>
      </p:sp>
      <p:sp>
        <p:nvSpPr>
          <p:cNvPr id="216" name="Google Shape;216;p33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17" name="Google Shape;21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/>
          <p:nvPr/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23" name="Google Shape;223;p34"/>
          <p:cNvSpPr txBox="1"/>
          <p:nvPr/>
        </p:nvSpPr>
        <p:spPr>
          <a:xfrm>
            <a:off x="573565" y="1801825"/>
            <a:ext cx="42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OWASP Switzerland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4" name="Google Shape;224;p34"/>
          <p:cNvSpPr/>
          <p:nvPr/>
        </p:nvSpPr>
        <p:spPr>
          <a:xfrm>
            <a:off x="692739" y="2448155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25" name="Google Shape;225;p34"/>
          <p:cNvSpPr txBox="1"/>
          <p:nvPr/>
        </p:nvSpPr>
        <p:spPr>
          <a:xfrm>
            <a:off x="470695" y="2783100"/>
            <a:ext cx="42042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First mentioned in January 2005</a:t>
            </a:r>
            <a:endParaRPr sz="16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First meeting in November 2006</a:t>
            </a:r>
            <a:endParaRPr sz="16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On-site only meetings till the covid pandemic</a:t>
            </a:r>
            <a:endParaRPr sz="16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Online-only meetings from the start of the covid pandemic until 2024</a:t>
            </a:r>
            <a:endParaRPr sz="16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●"/>
            </a:pPr>
            <a:r>
              <a:rPr lang="en-US" sz="16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Since 2024 we are back to on-site meetings</a:t>
            </a:r>
            <a:endParaRPr sz="16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p34"/>
          <p:cNvSpPr/>
          <p:nvPr/>
        </p:nvSpPr>
        <p:spPr>
          <a:xfrm>
            <a:off x="5181600" y="0"/>
            <a:ext cx="7010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29" name="Google Shape;22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7026" y="378328"/>
            <a:ext cx="1194300" cy="120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4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31" name="Google Shape;23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7;p24">
            <a:extLst>
              <a:ext uri="{FF2B5EF4-FFF2-40B4-BE49-F238E27FC236}">
                <a16:creationId xmlns:a16="http://schemas.microsoft.com/office/drawing/2014/main" id="{F4E37269-51C3-228D-E767-8B39D84CCE82}"/>
              </a:ext>
            </a:extLst>
          </p:cNvPr>
          <p:cNvSpPr txBox="1"/>
          <p:nvPr/>
        </p:nvSpPr>
        <p:spPr>
          <a:xfrm>
            <a:off x="5796317" y="3284133"/>
            <a:ext cx="5780966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Meet on-site in person.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Get to know your local community.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Exchange ideas with like minded people.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Contribute to the local network.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Dive into the global community.</a:t>
            </a:r>
            <a:endParaRPr sz="1800" dirty="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/>
          <p:nvPr/>
        </p:nvSpPr>
        <p:spPr>
          <a:xfrm>
            <a:off x="5181600" y="0"/>
            <a:ext cx="7010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37" name="Google Shape;237;p35"/>
          <p:cNvSpPr/>
          <p:nvPr/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38" name="Google Shape;238;p35"/>
          <p:cNvSpPr txBox="1"/>
          <p:nvPr/>
        </p:nvSpPr>
        <p:spPr>
          <a:xfrm>
            <a:off x="710725" y="1192225"/>
            <a:ext cx="3987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Become a Member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9" name="Google Shape;239;p35"/>
          <p:cNvSpPr/>
          <p:nvPr/>
        </p:nvSpPr>
        <p:spPr>
          <a:xfrm>
            <a:off x="829899" y="1838555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0" name="Google Shape;240;p35"/>
          <p:cNvSpPr txBox="1"/>
          <p:nvPr/>
        </p:nvSpPr>
        <p:spPr>
          <a:xfrm>
            <a:off x="710721" y="2173497"/>
            <a:ext cx="3807300" cy="4108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If you like what we do, please consider becoming an OWASP member.</a:t>
            </a:r>
            <a:endParaRPr sz="16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$50/year</a:t>
            </a:r>
            <a:r>
              <a:rPr lang="en-US" sz="23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for individuals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$500/lifetime</a:t>
            </a:r>
            <a:endParaRPr sz="2300" b="1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6D9EEB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6D9EEB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4F64A9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Starting $2,000/year for companies</a:t>
            </a:r>
            <a:endParaRPr sz="1600" dirty="0">
              <a:solidFill>
                <a:srgbClr val="4F64A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1" name="Google Shape;241;p35"/>
          <p:cNvSpPr txBox="1"/>
          <p:nvPr/>
        </p:nvSpPr>
        <p:spPr>
          <a:xfrm>
            <a:off x="7186800" y="54826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CCCC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https://owasp.org/membership/</a:t>
            </a:r>
            <a:endParaRPr sz="1600">
              <a:solidFill>
                <a:srgbClr val="CCCCCC"/>
              </a:solidFill>
            </a:endParaRPr>
          </a:p>
        </p:txBody>
      </p:sp>
      <p:pic>
        <p:nvPicPr>
          <p:cNvPr id="242" name="Google Shape;24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3150" y="1173500"/>
            <a:ext cx="3807300" cy="429096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5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44" name="Google Shape;244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/>
          <p:nvPr/>
        </p:nvSpPr>
        <p:spPr>
          <a:xfrm>
            <a:off x="801775" y="2689100"/>
            <a:ext cx="2446200" cy="3633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dist="63500" dir="2700000" algn="tl" rotWithShape="0">
              <a:srgbClr val="7F7F7F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50" name="Google Shape;250;p36"/>
          <p:cNvSpPr/>
          <p:nvPr/>
        </p:nvSpPr>
        <p:spPr>
          <a:xfrm>
            <a:off x="1149324" y="1813523"/>
            <a:ext cx="1751100" cy="1751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251" name="Google Shape;251;p36"/>
          <p:cNvCxnSpPr/>
          <p:nvPr/>
        </p:nvCxnSpPr>
        <p:spPr>
          <a:xfrm>
            <a:off x="1742584" y="5142570"/>
            <a:ext cx="564600" cy="0"/>
          </a:xfrm>
          <a:prstGeom prst="straightConnector1">
            <a:avLst/>
          </a:prstGeom>
          <a:noFill/>
          <a:ln w="381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2" name="Google Shape;252;p36"/>
          <p:cNvSpPr txBox="1"/>
          <p:nvPr/>
        </p:nvSpPr>
        <p:spPr>
          <a:xfrm>
            <a:off x="1039347" y="3672060"/>
            <a:ext cx="197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Stefan</a:t>
            </a:r>
            <a:br>
              <a:rPr lang="en-US" sz="18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en-US" sz="18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Bernhardsgrütter</a:t>
            </a:r>
            <a:endParaRPr/>
          </a:p>
        </p:txBody>
      </p:sp>
      <p:sp>
        <p:nvSpPr>
          <p:cNvPr id="253" name="Google Shape;253;p36"/>
          <p:cNvSpPr txBox="1"/>
          <p:nvPr/>
        </p:nvSpPr>
        <p:spPr>
          <a:xfrm>
            <a:off x="1039346" y="4616959"/>
            <a:ext cx="197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2"/>
                </a:solidFill>
                <a:latin typeface="Poppins Light"/>
                <a:ea typeface="Poppins Light"/>
                <a:cs typeface="Poppins Light"/>
                <a:sym typeface="Poppins Light"/>
              </a:rPr>
              <a:t>Redguard</a:t>
            </a:r>
            <a:endParaRPr/>
          </a:p>
        </p:txBody>
      </p:sp>
      <p:sp>
        <p:nvSpPr>
          <p:cNvPr id="254" name="Google Shape;254;p36"/>
          <p:cNvSpPr/>
          <p:nvPr/>
        </p:nvSpPr>
        <p:spPr>
          <a:xfrm>
            <a:off x="3515844" y="2689100"/>
            <a:ext cx="2446200" cy="3633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dist="63500" dir="2700000" algn="tl" rotWithShape="0">
              <a:srgbClr val="7F7F7F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55" name="Google Shape;255;p36"/>
          <p:cNvSpPr/>
          <p:nvPr/>
        </p:nvSpPr>
        <p:spPr>
          <a:xfrm>
            <a:off x="3863392" y="1813523"/>
            <a:ext cx="1751100" cy="1751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256" name="Google Shape;256;p36"/>
          <p:cNvCxnSpPr/>
          <p:nvPr/>
        </p:nvCxnSpPr>
        <p:spPr>
          <a:xfrm>
            <a:off x="4456652" y="5142570"/>
            <a:ext cx="564600" cy="0"/>
          </a:xfrm>
          <a:prstGeom prst="straightConnector1">
            <a:avLst/>
          </a:prstGeom>
          <a:noFill/>
          <a:ln w="381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7" name="Google Shape;257;p36"/>
          <p:cNvSpPr txBox="1"/>
          <p:nvPr/>
        </p:nvSpPr>
        <p:spPr>
          <a:xfrm>
            <a:off x="3753415" y="3672060"/>
            <a:ext cx="197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Marco</a:t>
            </a:r>
            <a:br>
              <a:rPr lang="en-US" sz="18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en-US" sz="18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Schnüriger</a:t>
            </a:r>
            <a:endParaRPr/>
          </a:p>
        </p:txBody>
      </p:sp>
      <p:sp>
        <p:nvSpPr>
          <p:cNvPr id="258" name="Google Shape;258;p36"/>
          <p:cNvSpPr txBox="1"/>
          <p:nvPr/>
        </p:nvSpPr>
        <p:spPr>
          <a:xfrm>
            <a:off x="3752189" y="4600709"/>
            <a:ext cx="197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2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Protect7</a:t>
            </a:r>
            <a:endParaRPr/>
          </a:p>
        </p:txBody>
      </p:sp>
      <p:sp>
        <p:nvSpPr>
          <p:cNvPr id="259" name="Google Shape;259;p36"/>
          <p:cNvSpPr/>
          <p:nvPr/>
        </p:nvSpPr>
        <p:spPr>
          <a:xfrm>
            <a:off x="6227424" y="2689100"/>
            <a:ext cx="2446200" cy="3633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dist="63500" dir="2700000" algn="tl" rotWithShape="0">
              <a:srgbClr val="7F7F7F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60" name="Google Shape;260;p36"/>
          <p:cNvSpPr/>
          <p:nvPr/>
        </p:nvSpPr>
        <p:spPr>
          <a:xfrm>
            <a:off x="6574970" y="1813523"/>
            <a:ext cx="1751100" cy="1751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261" name="Google Shape;261;p36"/>
          <p:cNvCxnSpPr/>
          <p:nvPr/>
        </p:nvCxnSpPr>
        <p:spPr>
          <a:xfrm>
            <a:off x="7168230" y="5142570"/>
            <a:ext cx="564600" cy="0"/>
          </a:xfrm>
          <a:prstGeom prst="straightConnector1">
            <a:avLst/>
          </a:prstGeom>
          <a:noFill/>
          <a:ln w="381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2" name="Google Shape;262;p36"/>
          <p:cNvSpPr txBox="1"/>
          <p:nvPr/>
        </p:nvSpPr>
        <p:spPr>
          <a:xfrm>
            <a:off x="6464993" y="3672060"/>
            <a:ext cx="197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Andrew</a:t>
            </a:r>
            <a:br>
              <a:rPr lang="en-US" sz="18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en-US" sz="18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Hutchison</a:t>
            </a:r>
            <a:endParaRPr/>
          </a:p>
        </p:txBody>
      </p:sp>
      <p:sp>
        <p:nvSpPr>
          <p:cNvPr id="263" name="Google Shape;263;p36"/>
          <p:cNvSpPr txBox="1"/>
          <p:nvPr/>
        </p:nvSpPr>
        <p:spPr>
          <a:xfrm>
            <a:off x="6467505" y="4600721"/>
            <a:ext cx="197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2"/>
                </a:solidFill>
                <a:latin typeface="Poppins Light"/>
                <a:ea typeface="Poppins Light"/>
                <a:cs typeface="Poppins Light"/>
                <a:sym typeface="Poppins Light"/>
              </a:rPr>
              <a:t>Google</a:t>
            </a:r>
            <a:endParaRPr/>
          </a:p>
        </p:txBody>
      </p:sp>
      <p:sp>
        <p:nvSpPr>
          <p:cNvPr id="264" name="Google Shape;264;p36"/>
          <p:cNvSpPr/>
          <p:nvPr/>
        </p:nvSpPr>
        <p:spPr>
          <a:xfrm>
            <a:off x="8943975" y="2689100"/>
            <a:ext cx="2446200" cy="3633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dist="63500" dir="2700000" algn="tl" rotWithShape="0">
              <a:srgbClr val="7F7F7F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65" name="Google Shape;265;p36"/>
          <p:cNvSpPr/>
          <p:nvPr/>
        </p:nvSpPr>
        <p:spPr>
          <a:xfrm>
            <a:off x="9291520" y="1813523"/>
            <a:ext cx="1751100" cy="1751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266" name="Google Shape;266;p36"/>
          <p:cNvCxnSpPr/>
          <p:nvPr/>
        </p:nvCxnSpPr>
        <p:spPr>
          <a:xfrm>
            <a:off x="9884780" y="5142570"/>
            <a:ext cx="564600" cy="0"/>
          </a:xfrm>
          <a:prstGeom prst="straightConnector1">
            <a:avLst/>
          </a:prstGeom>
          <a:noFill/>
          <a:ln w="381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7" name="Google Shape;267;p36"/>
          <p:cNvSpPr txBox="1"/>
          <p:nvPr/>
        </p:nvSpPr>
        <p:spPr>
          <a:xfrm>
            <a:off x="9181543" y="3672060"/>
            <a:ext cx="197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Thomas</a:t>
            </a:r>
            <a:br>
              <a:rPr lang="en-US" sz="18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en-US" sz="18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Bossard</a:t>
            </a:r>
            <a:endParaRPr/>
          </a:p>
        </p:txBody>
      </p:sp>
      <p:sp>
        <p:nvSpPr>
          <p:cNvPr id="268" name="Google Shape;268;p36"/>
          <p:cNvSpPr txBox="1"/>
          <p:nvPr/>
        </p:nvSpPr>
        <p:spPr>
          <a:xfrm>
            <a:off x="9181542" y="4504058"/>
            <a:ext cx="1971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2"/>
                </a:solidFill>
                <a:latin typeface="Poppins Light"/>
                <a:ea typeface="Poppins Light"/>
                <a:cs typeface="Poppins Light"/>
                <a:sym typeface="Poppins Light"/>
              </a:rPr>
              <a:t>Zühlke Engineering</a:t>
            </a:r>
            <a:endParaRPr/>
          </a:p>
        </p:txBody>
      </p:sp>
      <p:sp>
        <p:nvSpPr>
          <p:cNvPr id="273" name="Google Shape;273;p36"/>
          <p:cNvSpPr txBox="1"/>
          <p:nvPr/>
        </p:nvSpPr>
        <p:spPr>
          <a:xfrm>
            <a:off x="2148839" y="724540"/>
            <a:ext cx="789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MEET OUR SPEAKERS</a:t>
            </a:r>
            <a:endParaRPr sz="3600" b="1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74" name="Google Shape;274;p36"/>
          <p:cNvSpPr txBox="1"/>
          <p:nvPr/>
        </p:nvSpPr>
        <p:spPr>
          <a:xfrm>
            <a:off x="2148840" y="352145"/>
            <a:ext cx="7894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accent2"/>
                </a:solidFill>
                <a:latin typeface="Poppins Light"/>
                <a:ea typeface="Poppins Light"/>
                <a:cs typeface="Poppins Light"/>
                <a:sym typeface="Poppins Light"/>
              </a:rPr>
              <a:t>OWASP Switzerland Summit: Recharge &amp; Reconnect</a:t>
            </a:r>
            <a:endParaRPr sz="1800">
              <a:solidFill>
                <a:schemeClr val="accent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75" name="Google Shape;275;p36"/>
          <p:cNvSpPr/>
          <p:nvPr/>
        </p:nvSpPr>
        <p:spPr>
          <a:xfrm>
            <a:off x="5959078" y="1372478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76" name="Google Shape;276;p36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77" name="Google Shape;27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6"/>
          <p:cNvSpPr txBox="1"/>
          <p:nvPr/>
        </p:nvSpPr>
        <p:spPr>
          <a:xfrm>
            <a:off x="1040671" y="5249959"/>
            <a:ext cx="1971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5A5A5"/>
                </a:solidFill>
                <a:latin typeface="Poppins Light"/>
                <a:ea typeface="Poppins Light"/>
                <a:cs typeface="Poppins Light"/>
                <a:sym typeface="Poppins Light"/>
              </a:rPr>
              <a:t>OWASP Mobile Application Security for Developers and Penetration Testers</a:t>
            </a:r>
            <a:endParaRPr>
              <a:solidFill>
                <a:srgbClr val="A5A5A5"/>
              </a:solidFill>
            </a:endParaRPr>
          </a:p>
        </p:txBody>
      </p:sp>
      <p:cxnSp>
        <p:nvCxnSpPr>
          <p:cNvPr id="279" name="Google Shape;279;p36"/>
          <p:cNvCxnSpPr/>
          <p:nvPr/>
        </p:nvCxnSpPr>
        <p:spPr>
          <a:xfrm>
            <a:off x="1742634" y="4458945"/>
            <a:ext cx="564600" cy="0"/>
          </a:xfrm>
          <a:prstGeom prst="straightConnector1">
            <a:avLst/>
          </a:prstGeom>
          <a:noFill/>
          <a:ln w="381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0" name="Google Shape;280;p36"/>
          <p:cNvCxnSpPr/>
          <p:nvPr/>
        </p:nvCxnSpPr>
        <p:spPr>
          <a:xfrm>
            <a:off x="4456702" y="4458945"/>
            <a:ext cx="564600" cy="0"/>
          </a:xfrm>
          <a:prstGeom prst="straightConnector1">
            <a:avLst/>
          </a:prstGeom>
          <a:noFill/>
          <a:ln w="381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1" name="Google Shape;281;p36"/>
          <p:cNvCxnSpPr/>
          <p:nvPr/>
        </p:nvCxnSpPr>
        <p:spPr>
          <a:xfrm>
            <a:off x="7168280" y="4458945"/>
            <a:ext cx="564600" cy="0"/>
          </a:xfrm>
          <a:prstGeom prst="straightConnector1">
            <a:avLst/>
          </a:prstGeom>
          <a:noFill/>
          <a:ln w="381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2" name="Google Shape;282;p36"/>
          <p:cNvCxnSpPr/>
          <p:nvPr/>
        </p:nvCxnSpPr>
        <p:spPr>
          <a:xfrm>
            <a:off x="9884830" y="4458945"/>
            <a:ext cx="564600" cy="0"/>
          </a:xfrm>
          <a:prstGeom prst="straightConnector1">
            <a:avLst/>
          </a:prstGeom>
          <a:noFill/>
          <a:ln w="381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3" name="Google Shape;283;p36"/>
          <p:cNvSpPr txBox="1"/>
          <p:nvPr/>
        </p:nvSpPr>
        <p:spPr>
          <a:xfrm>
            <a:off x="3752196" y="5362860"/>
            <a:ext cx="1971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5A5A5"/>
                </a:solidFill>
                <a:latin typeface="Poppins Light"/>
                <a:ea typeface="Poppins Light"/>
                <a:cs typeface="Poppins Light"/>
                <a:sym typeface="Poppins Light"/>
              </a:rPr>
              <a:t>Beyond the Top 10: Limits of a finite Checklist</a:t>
            </a:r>
            <a:endParaRPr>
              <a:solidFill>
                <a:srgbClr val="A5A5A5"/>
              </a:solidFill>
            </a:endParaRPr>
          </a:p>
        </p:txBody>
      </p:sp>
      <p:sp>
        <p:nvSpPr>
          <p:cNvPr id="284" name="Google Shape;284;p36"/>
          <p:cNvSpPr txBox="1"/>
          <p:nvPr/>
        </p:nvSpPr>
        <p:spPr>
          <a:xfrm>
            <a:off x="6467508" y="5249959"/>
            <a:ext cx="1971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5A5A5"/>
                </a:solidFill>
                <a:latin typeface="Poppins Light"/>
                <a:ea typeface="Poppins Light"/>
                <a:cs typeface="Poppins Light"/>
                <a:sym typeface="Poppins Light"/>
              </a:rPr>
              <a:t>Cloud Security Building Blocks to Support Web Application Security</a:t>
            </a:r>
            <a:endParaRPr>
              <a:solidFill>
                <a:srgbClr val="A5A5A5"/>
              </a:solidFill>
            </a:endParaRPr>
          </a:p>
        </p:txBody>
      </p:sp>
      <p:sp>
        <p:nvSpPr>
          <p:cNvPr id="285" name="Google Shape;285;p36"/>
          <p:cNvSpPr txBox="1"/>
          <p:nvPr/>
        </p:nvSpPr>
        <p:spPr>
          <a:xfrm>
            <a:off x="9177846" y="5439060"/>
            <a:ext cx="1971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5A5A5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Confidential Computing</a:t>
            </a:r>
            <a:endParaRPr>
              <a:solidFill>
                <a:srgbClr val="A5A5A5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C0FE21-8B6E-9ECA-32D9-817D096B1E16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CAE548B-DF3F-42BA-00A4-19FB175B5EE0}"/>
              </a:ext>
            </a:extLst>
          </p:cNvPr>
          <p:cNvSpPr>
            <a:spLocks noGrp="1"/>
          </p:cNvSpPr>
          <p:nvPr>
            <p:ph type="pic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786EBB-3255-7C35-45B8-E83E2137087F}"/>
              </a:ext>
            </a:extLst>
          </p:cNvPr>
          <p:cNvSpPr>
            <a:spLocks noGrp="1"/>
          </p:cNvSpPr>
          <p:nvPr>
            <p:ph type="pic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089CBD-5334-486E-907F-83E08C981B46}"/>
              </a:ext>
            </a:extLst>
          </p:cNvPr>
          <p:cNvSpPr>
            <a:spLocks noGrp="1"/>
          </p:cNvSpPr>
          <p:nvPr>
            <p:ph type="pic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1" name="Google Shape;291;p37"/>
          <p:cNvSpPr/>
          <p:nvPr/>
        </p:nvSpPr>
        <p:spPr>
          <a:xfrm>
            <a:off x="0" y="-8"/>
            <a:ext cx="6096006" cy="6858010"/>
          </a:xfrm>
          <a:custGeom>
            <a:avLst/>
            <a:gdLst/>
            <a:ahLst/>
            <a:cxnLst/>
            <a:rect l="l" t="t" r="r" b="b"/>
            <a:pathLst>
              <a:path w="6096006" h="6858010" extrusionOk="0">
                <a:moveTo>
                  <a:pt x="3930981" y="1328719"/>
                </a:moveTo>
                <a:cubicBezTo>
                  <a:pt x="3952899" y="1328719"/>
                  <a:pt x="4047794" y="1547728"/>
                  <a:pt x="4047794" y="1591533"/>
                </a:cubicBezTo>
                <a:cubicBezTo>
                  <a:pt x="4047794" y="1613435"/>
                  <a:pt x="4025906" y="1686443"/>
                  <a:pt x="4003989" y="1752150"/>
                </a:cubicBezTo>
                <a:cubicBezTo>
                  <a:pt x="3967500" y="1861661"/>
                  <a:pt x="3967500" y="1868962"/>
                  <a:pt x="3989388" y="1883564"/>
                </a:cubicBezTo>
                <a:cubicBezTo>
                  <a:pt x="4025906" y="1905466"/>
                  <a:pt x="4150005" y="2029579"/>
                  <a:pt x="4179208" y="2073369"/>
                </a:cubicBezTo>
                <a:lnTo>
                  <a:pt x="4208411" y="2117174"/>
                </a:lnTo>
                <a:lnTo>
                  <a:pt x="4303322" y="2073369"/>
                </a:lnTo>
                <a:cubicBezTo>
                  <a:pt x="4369029" y="2051481"/>
                  <a:pt x="4434736" y="2029579"/>
                  <a:pt x="4463940" y="2029579"/>
                </a:cubicBezTo>
                <a:cubicBezTo>
                  <a:pt x="4522345" y="2029579"/>
                  <a:pt x="4734053" y="2124489"/>
                  <a:pt x="4734053" y="2146377"/>
                </a:cubicBezTo>
                <a:cubicBezTo>
                  <a:pt x="4734053" y="2168294"/>
                  <a:pt x="4697549" y="2160978"/>
                  <a:pt x="4602639" y="2109873"/>
                </a:cubicBezTo>
                <a:cubicBezTo>
                  <a:pt x="4551534" y="2087970"/>
                  <a:pt x="4493142" y="2066068"/>
                  <a:pt x="4471225" y="2066068"/>
                </a:cubicBezTo>
                <a:cubicBezTo>
                  <a:pt x="4427421" y="2066068"/>
                  <a:pt x="4237615" y="2131775"/>
                  <a:pt x="4237615" y="2146377"/>
                </a:cubicBezTo>
                <a:cubicBezTo>
                  <a:pt x="4237615" y="2146377"/>
                  <a:pt x="4244915" y="2153677"/>
                  <a:pt x="4252216" y="2153677"/>
                </a:cubicBezTo>
                <a:cubicBezTo>
                  <a:pt x="4259517" y="2153677"/>
                  <a:pt x="4281419" y="2168294"/>
                  <a:pt x="4303322" y="2190181"/>
                </a:cubicBezTo>
                <a:cubicBezTo>
                  <a:pt x="4376330" y="2248588"/>
                  <a:pt x="4369029" y="2358099"/>
                  <a:pt x="4281419" y="2409205"/>
                </a:cubicBezTo>
                <a:cubicBezTo>
                  <a:pt x="4266818" y="2423806"/>
                  <a:pt x="4237615" y="2453009"/>
                  <a:pt x="4223013" y="2474912"/>
                </a:cubicBezTo>
                <a:cubicBezTo>
                  <a:pt x="4157306" y="2577108"/>
                  <a:pt x="4040493" y="2613626"/>
                  <a:pt x="3901778" y="2577108"/>
                </a:cubicBezTo>
                <a:cubicBezTo>
                  <a:pt x="3857988" y="2562506"/>
                  <a:pt x="3821484" y="2555220"/>
                  <a:pt x="3821484" y="2555220"/>
                </a:cubicBezTo>
                <a:cubicBezTo>
                  <a:pt x="3821484" y="2555220"/>
                  <a:pt x="3828785" y="2620927"/>
                  <a:pt x="3828785" y="2701220"/>
                </a:cubicBezTo>
                <a:lnTo>
                  <a:pt x="3836086" y="2847236"/>
                </a:lnTo>
                <a:lnTo>
                  <a:pt x="3923695" y="2912943"/>
                </a:lnTo>
                <a:lnTo>
                  <a:pt x="4011305" y="2993251"/>
                </a:lnTo>
                <a:lnTo>
                  <a:pt x="4201111" y="2985951"/>
                </a:lnTo>
                <a:cubicBezTo>
                  <a:pt x="4420135" y="2978650"/>
                  <a:pt x="4434736" y="3000553"/>
                  <a:pt x="4230314" y="3029755"/>
                </a:cubicBezTo>
                <a:cubicBezTo>
                  <a:pt x="4055095" y="3051658"/>
                  <a:pt x="4033192" y="3051658"/>
                  <a:pt x="3916380" y="3015154"/>
                </a:cubicBezTo>
                <a:cubicBezTo>
                  <a:pt x="3865289" y="2993251"/>
                  <a:pt x="3821484" y="2978650"/>
                  <a:pt x="3814184" y="2985951"/>
                </a:cubicBezTo>
                <a:cubicBezTo>
                  <a:pt x="3806883" y="2985951"/>
                  <a:pt x="3828785" y="3022455"/>
                  <a:pt x="3850688" y="3066259"/>
                </a:cubicBezTo>
                <a:lnTo>
                  <a:pt x="3894492" y="3139267"/>
                </a:lnTo>
                <a:lnTo>
                  <a:pt x="4084298" y="3175771"/>
                </a:lnTo>
                <a:cubicBezTo>
                  <a:pt x="4186509" y="3212275"/>
                  <a:pt x="4266818" y="3241478"/>
                  <a:pt x="4266818" y="3248779"/>
                </a:cubicBezTo>
                <a:cubicBezTo>
                  <a:pt x="4266818" y="3277982"/>
                  <a:pt x="3872590" y="3183072"/>
                  <a:pt x="3828785" y="3139267"/>
                </a:cubicBezTo>
                <a:lnTo>
                  <a:pt x="3792281" y="3110064"/>
                </a:lnTo>
                <a:lnTo>
                  <a:pt x="3799582" y="3153869"/>
                </a:lnTo>
                <a:cubicBezTo>
                  <a:pt x="3814184" y="3226876"/>
                  <a:pt x="3836086" y="3256079"/>
                  <a:pt x="3952899" y="3372877"/>
                </a:cubicBezTo>
                <a:cubicBezTo>
                  <a:pt x="4113501" y="3533494"/>
                  <a:pt x="4084298" y="3533494"/>
                  <a:pt x="3887191" y="3372877"/>
                </a:cubicBezTo>
                <a:cubicBezTo>
                  <a:pt x="3799582" y="3299884"/>
                  <a:pt x="3784980" y="3277982"/>
                  <a:pt x="3719273" y="3153869"/>
                </a:cubicBezTo>
                <a:cubicBezTo>
                  <a:pt x="3653566" y="3029755"/>
                  <a:pt x="3631664" y="3000553"/>
                  <a:pt x="3609761" y="3029755"/>
                </a:cubicBezTo>
                <a:cubicBezTo>
                  <a:pt x="3602461" y="3037056"/>
                  <a:pt x="3624363" y="3183072"/>
                  <a:pt x="3653566" y="3350989"/>
                </a:cubicBezTo>
                <a:cubicBezTo>
                  <a:pt x="3821484" y="4314662"/>
                  <a:pt x="3865289" y="4811115"/>
                  <a:pt x="3843387" y="5424365"/>
                </a:cubicBezTo>
                <a:cubicBezTo>
                  <a:pt x="3828785" y="5694479"/>
                  <a:pt x="3821484" y="5789389"/>
                  <a:pt x="3792281" y="5818592"/>
                </a:cubicBezTo>
                <a:cubicBezTo>
                  <a:pt x="3733875" y="5876998"/>
                  <a:pt x="3332346" y="5241846"/>
                  <a:pt x="3237436" y="4935213"/>
                </a:cubicBezTo>
                <a:cubicBezTo>
                  <a:pt x="3179030" y="4745393"/>
                  <a:pt x="3135225" y="4460678"/>
                  <a:pt x="3142526" y="4329264"/>
                </a:cubicBezTo>
                <a:cubicBezTo>
                  <a:pt x="3149827" y="4205151"/>
                  <a:pt x="3142526" y="4227053"/>
                  <a:pt x="3273940" y="3971540"/>
                </a:cubicBezTo>
                <a:cubicBezTo>
                  <a:pt x="3295842" y="3920435"/>
                  <a:pt x="3325045" y="3847427"/>
                  <a:pt x="3332346" y="3810923"/>
                </a:cubicBezTo>
                <a:cubicBezTo>
                  <a:pt x="3346948" y="3737916"/>
                  <a:pt x="3405339" y="3131966"/>
                  <a:pt x="3405339" y="3066259"/>
                </a:cubicBezTo>
                <a:cubicBezTo>
                  <a:pt x="3405339" y="3037056"/>
                  <a:pt x="3398054" y="3029755"/>
                  <a:pt x="3325045" y="3000553"/>
                </a:cubicBezTo>
                <a:cubicBezTo>
                  <a:pt x="3281241" y="2978650"/>
                  <a:pt x="3244737" y="2964048"/>
                  <a:pt x="3237436" y="2971349"/>
                </a:cubicBezTo>
                <a:cubicBezTo>
                  <a:pt x="3230135" y="2978650"/>
                  <a:pt x="3237436" y="3000553"/>
                  <a:pt x="3244737" y="3022455"/>
                </a:cubicBezTo>
                <a:cubicBezTo>
                  <a:pt x="3310444" y="3204974"/>
                  <a:pt x="3193631" y="3409396"/>
                  <a:pt x="2806704" y="3810923"/>
                </a:cubicBezTo>
                <a:cubicBezTo>
                  <a:pt x="2587681" y="4037247"/>
                  <a:pt x="2368657" y="4197865"/>
                  <a:pt x="2018234" y="4402271"/>
                </a:cubicBezTo>
                <a:cubicBezTo>
                  <a:pt x="1806526" y="4519084"/>
                  <a:pt x="1324688" y="4759995"/>
                  <a:pt x="1310087" y="4745393"/>
                </a:cubicBezTo>
                <a:cubicBezTo>
                  <a:pt x="1295485" y="4738107"/>
                  <a:pt x="1499892" y="4307361"/>
                  <a:pt x="1616705" y="4102940"/>
                </a:cubicBezTo>
                <a:cubicBezTo>
                  <a:pt x="1828428" y="3723314"/>
                  <a:pt x="1981730" y="3511592"/>
                  <a:pt x="2222656" y="3270681"/>
                </a:cubicBezTo>
                <a:cubicBezTo>
                  <a:pt x="2427063" y="3066259"/>
                  <a:pt x="2638786" y="2891041"/>
                  <a:pt x="2755599" y="2839950"/>
                </a:cubicBezTo>
                <a:cubicBezTo>
                  <a:pt x="2857810" y="2788830"/>
                  <a:pt x="2967307" y="2781529"/>
                  <a:pt x="3040315" y="2810747"/>
                </a:cubicBezTo>
                <a:cubicBezTo>
                  <a:pt x="3062217" y="2825349"/>
                  <a:pt x="3091420" y="2832634"/>
                  <a:pt x="3091420" y="2832634"/>
                </a:cubicBezTo>
                <a:cubicBezTo>
                  <a:pt x="3091420" y="2832634"/>
                  <a:pt x="3076819" y="2788830"/>
                  <a:pt x="3054916" y="2737739"/>
                </a:cubicBezTo>
                <a:cubicBezTo>
                  <a:pt x="3018412" y="2650115"/>
                  <a:pt x="3003811" y="2642829"/>
                  <a:pt x="2974623" y="2642829"/>
                </a:cubicBezTo>
                <a:cubicBezTo>
                  <a:pt x="2872411" y="2642829"/>
                  <a:pt x="2222656" y="2715837"/>
                  <a:pt x="2164250" y="2730424"/>
                </a:cubicBezTo>
                <a:cubicBezTo>
                  <a:pt x="2127746" y="2737739"/>
                  <a:pt x="2062039" y="2774228"/>
                  <a:pt x="2018234" y="2803431"/>
                </a:cubicBezTo>
                <a:cubicBezTo>
                  <a:pt x="1894135" y="2891041"/>
                  <a:pt x="1828428" y="2905642"/>
                  <a:pt x="1631307" y="2905642"/>
                </a:cubicBezTo>
                <a:cubicBezTo>
                  <a:pt x="1266282" y="2905642"/>
                  <a:pt x="915859" y="2774228"/>
                  <a:pt x="492413" y="2496814"/>
                </a:cubicBezTo>
                <a:cubicBezTo>
                  <a:pt x="295307" y="2372700"/>
                  <a:pt x="200396" y="2277791"/>
                  <a:pt x="222299" y="2255888"/>
                </a:cubicBezTo>
                <a:cubicBezTo>
                  <a:pt x="229600" y="2248588"/>
                  <a:pt x="288006" y="2233986"/>
                  <a:pt x="353698" y="2219384"/>
                </a:cubicBezTo>
                <a:cubicBezTo>
                  <a:pt x="455909" y="2204783"/>
                  <a:pt x="565421" y="2197497"/>
                  <a:pt x="981551" y="2204783"/>
                </a:cubicBezTo>
                <a:cubicBezTo>
                  <a:pt x="1616705" y="2212084"/>
                  <a:pt x="1791924" y="2226685"/>
                  <a:pt x="2616884" y="2372700"/>
                </a:cubicBezTo>
                <a:cubicBezTo>
                  <a:pt x="2828607" y="2409205"/>
                  <a:pt x="3003811" y="2438407"/>
                  <a:pt x="3011112" y="2431107"/>
                </a:cubicBezTo>
                <a:cubicBezTo>
                  <a:pt x="3040315" y="2416505"/>
                  <a:pt x="3011112" y="2387302"/>
                  <a:pt x="2901615" y="2336197"/>
                </a:cubicBezTo>
                <a:cubicBezTo>
                  <a:pt x="2835908" y="2306994"/>
                  <a:pt x="2755599" y="2263189"/>
                  <a:pt x="2726396" y="2233986"/>
                </a:cubicBezTo>
                <a:cubicBezTo>
                  <a:pt x="2667989" y="2182881"/>
                  <a:pt x="2543876" y="2007662"/>
                  <a:pt x="2551177" y="1993060"/>
                </a:cubicBezTo>
                <a:cubicBezTo>
                  <a:pt x="2558477" y="1985774"/>
                  <a:pt x="2609583" y="2036865"/>
                  <a:pt x="2675290" y="2102572"/>
                </a:cubicBezTo>
                <a:cubicBezTo>
                  <a:pt x="2762900" y="2190181"/>
                  <a:pt x="2814005" y="2226685"/>
                  <a:pt x="2865111" y="2248588"/>
                </a:cubicBezTo>
                <a:cubicBezTo>
                  <a:pt x="2938104" y="2277791"/>
                  <a:pt x="2945419" y="2270490"/>
                  <a:pt x="2901615" y="2226685"/>
                </a:cubicBezTo>
                <a:cubicBezTo>
                  <a:pt x="2879697" y="2212084"/>
                  <a:pt x="2857810" y="2146377"/>
                  <a:pt x="2835908" y="2036865"/>
                </a:cubicBezTo>
                <a:cubicBezTo>
                  <a:pt x="2777501" y="1766751"/>
                  <a:pt x="2792103" y="1730247"/>
                  <a:pt x="2865111" y="1963857"/>
                </a:cubicBezTo>
                <a:cubicBezTo>
                  <a:pt x="2930818" y="2160978"/>
                  <a:pt x="2938104" y="2182881"/>
                  <a:pt x="3011112" y="2219384"/>
                </a:cubicBezTo>
                <a:cubicBezTo>
                  <a:pt x="3047615" y="2241287"/>
                  <a:pt x="3084120" y="2255888"/>
                  <a:pt x="3091420" y="2255888"/>
                </a:cubicBezTo>
                <a:cubicBezTo>
                  <a:pt x="3098721" y="2255888"/>
                  <a:pt x="3091420" y="2212084"/>
                  <a:pt x="3069518" y="2160978"/>
                </a:cubicBezTo>
                <a:cubicBezTo>
                  <a:pt x="3025713" y="2044166"/>
                  <a:pt x="3025713" y="2022278"/>
                  <a:pt x="3054916" y="1847060"/>
                </a:cubicBezTo>
                <a:cubicBezTo>
                  <a:pt x="3084120" y="1642638"/>
                  <a:pt x="3098721" y="1649939"/>
                  <a:pt x="3091420" y="1854360"/>
                </a:cubicBezTo>
                <a:lnTo>
                  <a:pt x="3084120" y="2036865"/>
                </a:lnTo>
                <a:lnTo>
                  <a:pt x="3157127" y="2139076"/>
                </a:lnTo>
                <a:cubicBezTo>
                  <a:pt x="3222835" y="2233986"/>
                  <a:pt x="3230135" y="2241287"/>
                  <a:pt x="3273940" y="2233986"/>
                </a:cubicBezTo>
                <a:cubicBezTo>
                  <a:pt x="3346948" y="2226685"/>
                  <a:pt x="3398054" y="2226685"/>
                  <a:pt x="3456460" y="2241287"/>
                </a:cubicBezTo>
                <a:lnTo>
                  <a:pt x="3514866" y="2248588"/>
                </a:lnTo>
                <a:lnTo>
                  <a:pt x="3492949" y="2160978"/>
                </a:lnTo>
                <a:cubicBezTo>
                  <a:pt x="3463746" y="2014977"/>
                  <a:pt x="3492949" y="1920053"/>
                  <a:pt x="3580558" y="1854360"/>
                </a:cubicBezTo>
                <a:cubicBezTo>
                  <a:pt x="3609761" y="1839759"/>
                  <a:pt x="3653566" y="1795954"/>
                  <a:pt x="3682769" y="1766751"/>
                </a:cubicBezTo>
                <a:cubicBezTo>
                  <a:pt x="3726574" y="1722946"/>
                  <a:pt x="3733875" y="1715646"/>
                  <a:pt x="3784980" y="1715646"/>
                </a:cubicBezTo>
                <a:cubicBezTo>
                  <a:pt x="3843387" y="1715646"/>
                  <a:pt x="3901778" y="1752150"/>
                  <a:pt x="3916380" y="1803255"/>
                </a:cubicBezTo>
                <a:cubicBezTo>
                  <a:pt x="3930981" y="1868962"/>
                  <a:pt x="4003989" y="1730247"/>
                  <a:pt x="4003989" y="1620736"/>
                </a:cubicBezTo>
                <a:cubicBezTo>
                  <a:pt x="4003989" y="1555029"/>
                  <a:pt x="3996703" y="1525826"/>
                  <a:pt x="3952899" y="1445517"/>
                </a:cubicBezTo>
                <a:cubicBezTo>
                  <a:pt x="3923695" y="1394412"/>
                  <a:pt x="3901778" y="1350607"/>
                  <a:pt x="3909094" y="1343321"/>
                </a:cubicBezTo>
                <a:cubicBezTo>
                  <a:pt x="3916380" y="1336005"/>
                  <a:pt x="3923695" y="1328719"/>
                  <a:pt x="3930981" y="1328719"/>
                </a:cubicBezTo>
                <a:close/>
                <a:moveTo>
                  <a:pt x="2525516" y="456"/>
                </a:moveTo>
                <a:cubicBezTo>
                  <a:pt x="2580614" y="-457"/>
                  <a:pt x="2643812" y="1"/>
                  <a:pt x="2709058" y="1822"/>
                </a:cubicBezTo>
                <a:cubicBezTo>
                  <a:pt x="2839550" y="5480"/>
                  <a:pt x="2978265" y="14610"/>
                  <a:pt x="3076819" y="29211"/>
                </a:cubicBezTo>
                <a:cubicBezTo>
                  <a:pt x="3471061" y="80317"/>
                  <a:pt x="3850688" y="189813"/>
                  <a:pt x="4201111" y="365032"/>
                </a:cubicBezTo>
                <a:cubicBezTo>
                  <a:pt x="4544233" y="532950"/>
                  <a:pt x="4785159" y="708168"/>
                  <a:pt x="5055274" y="970981"/>
                </a:cubicBezTo>
                <a:cubicBezTo>
                  <a:pt x="5829142" y="1730247"/>
                  <a:pt x="6201468" y="2759627"/>
                  <a:pt x="6070068" y="3832826"/>
                </a:cubicBezTo>
                <a:cubicBezTo>
                  <a:pt x="6018948" y="4263557"/>
                  <a:pt x="5902150" y="4643197"/>
                  <a:pt x="5705029" y="5030123"/>
                </a:cubicBezTo>
                <a:cubicBezTo>
                  <a:pt x="5237793" y="5928104"/>
                  <a:pt x="4339826" y="6599760"/>
                  <a:pt x="3346948" y="6789565"/>
                </a:cubicBezTo>
                <a:cubicBezTo>
                  <a:pt x="2974623" y="6862573"/>
                  <a:pt x="2653388" y="6877175"/>
                  <a:pt x="2295664" y="6833370"/>
                </a:cubicBezTo>
                <a:cubicBezTo>
                  <a:pt x="2054738" y="6804167"/>
                  <a:pt x="1930624" y="6782279"/>
                  <a:pt x="1755420" y="6731159"/>
                </a:cubicBezTo>
                <a:cubicBezTo>
                  <a:pt x="1156770" y="6563256"/>
                  <a:pt x="682234" y="6285827"/>
                  <a:pt x="258803" y="5862397"/>
                </a:cubicBezTo>
                <a:cubicBezTo>
                  <a:pt x="191270" y="5794865"/>
                  <a:pt x="126477" y="5724139"/>
                  <a:pt x="64764" y="5651019"/>
                </a:cubicBezTo>
                <a:lnTo>
                  <a:pt x="0" y="5567739"/>
                </a:lnTo>
                <a:lnTo>
                  <a:pt x="0" y="4550594"/>
                </a:lnTo>
                <a:lnTo>
                  <a:pt x="15954" y="4590749"/>
                </a:lnTo>
                <a:cubicBezTo>
                  <a:pt x="163320" y="4924266"/>
                  <a:pt x="373785" y="5229976"/>
                  <a:pt x="638429" y="5490057"/>
                </a:cubicBezTo>
                <a:cubicBezTo>
                  <a:pt x="1091063" y="5942705"/>
                  <a:pt x="1711616" y="6242022"/>
                  <a:pt x="2339469" y="6307729"/>
                </a:cubicBezTo>
                <a:cubicBezTo>
                  <a:pt x="2507372" y="6322331"/>
                  <a:pt x="2857810" y="6322331"/>
                  <a:pt x="3003811" y="6307729"/>
                </a:cubicBezTo>
                <a:cubicBezTo>
                  <a:pt x="4325225" y="6147112"/>
                  <a:pt x="5361907" y="5132334"/>
                  <a:pt x="5544426" y="3818224"/>
                </a:cubicBezTo>
                <a:cubicBezTo>
                  <a:pt x="5573615" y="3628404"/>
                  <a:pt x="5573615" y="3263380"/>
                  <a:pt x="5551712" y="3080861"/>
                </a:cubicBezTo>
                <a:cubicBezTo>
                  <a:pt x="5486020" y="2562521"/>
                  <a:pt x="5303500" y="2109888"/>
                  <a:pt x="4996867" y="1693743"/>
                </a:cubicBezTo>
                <a:cubicBezTo>
                  <a:pt x="4865468" y="1518525"/>
                  <a:pt x="4573437" y="1226509"/>
                  <a:pt x="4398232" y="1095095"/>
                </a:cubicBezTo>
                <a:cubicBezTo>
                  <a:pt x="3996703" y="795778"/>
                  <a:pt x="3551355" y="620559"/>
                  <a:pt x="3069518" y="554852"/>
                </a:cubicBezTo>
                <a:cubicBezTo>
                  <a:pt x="2914372" y="532935"/>
                  <a:pt x="2760045" y="523820"/>
                  <a:pt x="2607620" y="526809"/>
                </a:cubicBezTo>
                <a:cubicBezTo>
                  <a:pt x="1540723" y="547774"/>
                  <a:pt x="568157" y="1162631"/>
                  <a:pt x="76283" y="2146377"/>
                </a:cubicBezTo>
                <a:lnTo>
                  <a:pt x="0" y="2313924"/>
                </a:lnTo>
                <a:lnTo>
                  <a:pt x="0" y="1291735"/>
                </a:lnTo>
                <a:lnTo>
                  <a:pt x="236900" y="1022087"/>
                </a:lnTo>
                <a:cubicBezTo>
                  <a:pt x="434022" y="817665"/>
                  <a:pt x="565421" y="708168"/>
                  <a:pt x="799046" y="554852"/>
                </a:cubicBezTo>
                <a:cubicBezTo>
                  <a:pt x="1258981" y="248220"/>
                  <a:pt x="1748119" y="80317"/>
                  <a:pt x="2390574" y="7309"/>
                </a:cubicBezTo>
                <a:cubicBezTo>
                  <a:pt x="2423420" y="3651"/>
                  <a:pt x="2470418" y="1369"/>
                  <a:pt x="2525516" y="456"/>
                </a:cubicBezTo>
                <a:close/>
              </a:path>
            </a:pathLst>
          </a:custGeom>
          <a:solidFill>
            <a:srgbClr val="F2F2F2">
              <a:alpha val="666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2" name="Google Shape;292;p37"/>
          <p:cNvSpPr txBox="1"/>
          <p:nvPr/>
        </p:nvSpPr>
        <p:spPr>
          <a:xfrm>
            <a:off x="903334" y="2921168"/>
            <a:ext cx="47157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F2F2F2"/>
                </a:solidFill>
                <a:latin typeface="Barlow"/>
                <a:ea typeface="Barlow"/>
                <a:cs typeface="Barlow"/>
                <a:sym typeface="Barlow"/>
              </a:rPr>
              <a:t>THANK YOU</a:t>
            </a:r>
            <a:endParaRPr sz="6000" b="1">
              <a:solidFill>
                <a:srgbClr val="F2F2F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93" name="Google Shape;293;p37"/>
          <p:cNvSpPr/>
          <p:nvPr/>
        </p:nvSpPr>
        <p:spPr>
          <a:xfrm>
            <a:off x="1031571" y="1862023"/>
            <a:ext cx="2249576" cy="65988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4" name="Google Shape;294;p37"/>
          <p:cNvSpPr txBox="1"/>
          <p:nvPr/>
        </p:nvSpPr>
        <p:spPr>
          <a:xfrm>
            <a:off x="6713555" y="2313055"/>
            <a:ext cx="507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2F2F2"/>
                </a:solidFill>
                <a:latin typeface="Barlow"/>
                <a:ea typeface="Barlow"/>
                <a:cs typeface="Barlow"/>
                <a:sym typeface="Barlow"/>
              </a:rPr>
              <a:t>Web</a:t>
            </a:r>
            <a:endParaRPr sz="1800" b="1">
              <a:solidFill>
                <a:srgbClr val="F2F2F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5" name="Google Shape;295;p37"/>
          <p:cNvSpPr txBox="1"/>
          <p:nvPr/>
        </p:nvSpPr>
        <p:spPr>
          <a:xfrm>
            <a:off x="6713555" y="2682387"/>
            <a:ext cx="507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2F2F2"/>
                </a:solidFill>
                <a:uFill>
                  <a:noFill/>
                </a:uFill>
                <a:latin typeface="Poppins Light"/>
                <a:ea typeface="Poppins Light"/>
                <a:cs typeface="Poppins Light"/>
                <a:sym typeface="Poppins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https://owasp.org/www-chapter-switzerland/</a:t>
            </a:r>
            <a:endParaRPr sz="1600">
              <a:solidFill>
                <a:srgbClr val="F2F2F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6" name="Google Shape;296;p37"/>
          <p:cNvSpPr txBox="1"/>
          <p:nvPr/>
        </p:nvSpPr>
        <p:spPr>
          <a:xfrm>
            <a:off x="6713555" y="3818318"/>
            <a:ext cx="507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2F2F2"/>
                </a:solidFill>
                <a:latin typeface="Barlow"/>
                <a:ea typeface="Barlow"/>
                <a:cs typeface="Barlow"/>
                <a:sym typeface="Barlow"/>
              </a:rPr>
              <a:t>YouTube</a:t>
            </a:r>
            <a:endParaRPr sz="1800" b="1">
              <a:solidFill>
                <a:srgbClr val="F2F2F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7" name="Google Shape;297;p37"/>
          <p:cNvSpPr txBox="1"/>
          <p:nvPr/>
        </p:nvSpPr>
        <p:spPr>
          <a:xfrm>
            <a:off x="6713555" y="4187650"/>
            <a:ext cx="507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2F2F2"/>
                </a:solidFill>
                <a:uFill>
                  <a:noFill/>
                </a:uFill>
                <a:latin typeface="Poppins Light"/>
                <a:ea typeface="Poppins Light"/>
                <a:cs typeface="Poppins Light"/>
                <a:sym typeface="Poppins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https://www.youtube.com/@OWASPSwitzerland</a:t>
            </a:r>
            <a:endParaRPr sz="1600">
              <a:solidFill>
                <a:srgbClr val="F2F2F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8" name="Google Shape;298;p37"/>
          <p:cNvSpPr txBox="1"/>
          <p:nvPr/>
        </p:nvSpPr>
        <p:spPr>
          <a:xfrm>
            <a:off x="6713555" y="807792"/>
            <a:ext cx="507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2F2F2"/>
                </a:solidFill>
                <a:latin typeface="Barlow"/>
                <a:ea typeface="Barlow"/>
                <a:cs typeface="Barlow"/>
                <a:sym typeface="Barlow"/>
              </a:rPr>
              <a:t>Meetup</a:t>
            </a:r>
            <a:endParaRPr sz="1800" b="1">
              <a:solidFill>
                <a:srgbClr val="F2F2F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299" name="Google Shape;299;p37"/>
          <p:cNvCxnSpPr/>
          <p:nvPr/>
        </p:nvCxnSpPr>
        <p:spPr>
          <a:xfrm>
            <a:off x="6580475" y="3419630"/>
            <a:ext cx="5203200" cy="0"/>
          </a:xfrm>
          <a:prstGeom prst="straightConnector1">
            <a:avLst/>
          </a:prstGeom>
          <a:noFill/>
          <a:ln w="9525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0" name="Google Shape;300;p37"/>
          <p:cNvCxnSpPr/>
          <p:nvPr/>
        </p:nvCxnSpPr>
        <p:spPr>
          <a:xfrm>
            <a:off x="6580475" y="1914367"/>
            <a:ext cx="5203200" cy="0"/>
          </a:xfrm>
          <a:prstGeom prst="straightConnector1">
            <a:avLst/>
          </a:prstGeom>
          <a:noFill/>
          <a:ln w="9525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1" name="Google Shape;301;p37"/>
          <p:cNvSpPr txBox="1"/>
          <p:nvPr/>
        </p:nvSpPr>
        <p:spPr>
          <a:xfrm>
            <a:off x="6713555" y="1177124"/>
            <a:ext cx="507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2F2F2"/>
                </a:solidFill>
                <a:uFill>
                  <a:noFill/>
                </a:uFill>
                <a:latin typeface="Poppins Light"/>
                <a:ea typeface="Poppins Light"/>
                <a:cs typeface="Poppins Light"/>
                <a:sym typeface="Poppins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https://www.meetup.com/OWASPSwitzerland/</a:t>
            </a:r>
            <a:endParaRPr sz="1600">
              <a:solidFill>
                <a:srgbClr val="F2F2F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02" name="Google Shape;302;p37"/>
          <p:cNvSpPr txBox="1"/>
          <p:nvPr/>
        </p:nvSpPr>
        <p:spPr>
          <a:xfrm>
            <a:off x="903334" y="3936500"/>
            <a:ext cx="471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2F2F2"/>
                </a:solidFill>
                <a:latin typeface="Poppins Light"/>
                <a:ea typeface="Poppins Light"/>
                <a:cs typeface="Poppins Light"/>
                <a:sym typeface="Poppins Light"/>
              </a:rPr>
              <a:t>FOR BEING PART OF OWASP</a:t>
            </a:r>
            <a:endParaRPr sz="2000">
              <a:solidFill>
                <a:srgbClr val="F2F2F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303" name="Google Shape;303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6325" y="864398"/>
            <a:ext cx="659350" cy="65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66325" y="3826025"/>
            <a:ext cx="659350" cy="65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66325" y="2372649"/>
            <a:ext cx="659350" cy="65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66325" y="5357060"/>
            <a:ext cx="659350" cy="6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7"/>
          <p:cNvSpPr txBox="1"/>
          <p:nvPr/>
        </p:nvSpPr>
        <p:spPr>
          <a:xfrm>
            <a:off x="6713468" y="5323568"/>
            <a:ext cx="507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2F2F2"/>
                </a:solidFill>
                <a:latin typeface="Barlow"/>
                <a:ea typeface="Barlow"/>
                <a:cs typeface="Barlow"/>
                <a:sym typeface="Barlow"/>
              </a:rPr>
              <a:t>X</a:t>
            </a:r>
            <a:r>
              <a:rPr lang="en-US" sz="1200" b="1" i="1">
                <a:solidFill>
                  <a:srgbClr val="6D9EEB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1200" b="1" i="1">
                <a:solidFill>
                  <a:srgbClr val="4F64A9"/>
                </a:solidFill>
                <a:latin typeface="Barlow"/>
                <a:ea typeface="Barlow"/>
                <a:cs typeface="Barlow"/>
                <a:sym typeface="Barlow"/>
              </a:rPr>
              <a:t>(formerly known as Twitter)</a:t>
            </a:r>
            <a:endParaRPr sz="1200" b="1" i="1">
              <a:solidFill>
                <a:srgbClr val="4F64A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08" name="Google Shape;308;p37"/>
          <p:cNvSpPr txBox="1"/>
          <p:nvPr/>
        </p:nvSpPr>
        <p:spPr>
          <a:xfrm>
            <a:off x="6713468" y="5692900"/>
            <a:ext cx="507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rgbClr val="F2F2F2"/>
                </a:solidFill>
                <a:uFill>
                  <a:noFill/>
                </a:uFill>
                <a:latin typeface="Poppins Light"/>
                <a:ea typeface="Poppins Light"/>
                <a:cs typeface="Poppins Light"/>
                <a:sym typeface="Poppins Light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https://x.com/owasp_ch</a:t>
            </a:r>
            <a:endParaRPr sz="1600">
              <a:solidFill>
                <a:srgbClr val="F2F2F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309" name="Google Shape;309;p37"/>
          <p:cNvCxnSpPr/>
          <p:nvPr/>
        </p:nvCxnSpPr>
        <p:spPr>
          <a:xfrm>
            <a:off x="6580388" y="4924880"/>
            <a:ext cx="5203200" cy="0"/>
          </a:xfrm>
          <a:prstGeom prst="straightConnector1">
            <a:avLst/>
          </a:prstGeom>
          <a:noFill/>
          <a:ln w="9525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10" name="Google Shape;310;p3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13466" y="1793951"/>
            <a:ext cx="790426" cy="795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WASP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53E8E"/>
      </a:accent1>
      <a:accent2>
        <a:srgbClr val="28AAE2"/>
      </a:accent2>
      <a:accent3>
        <a:srgbClr val="FFFFFF"/>
      </a:accent3>
      <a:accent4>
        <a:srgbClr val="F4B71E"/>
      </a:accent4>
      <a:accent5>
        <a:srgbClr val="5F605F"/>
      </a:accent5>
      <a:accent6>
        <a:srgbClr val="898989"/>
      </a:accent6>
      <a:hlink>
        <a:srgbClr val="28AAE2"/>
      </a:hlink>
      <a:folHlink>
        <a:srgbClr val="28AAE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WASP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53E8E"/>
      </a:accent1>
      <a:accent2>
        <a:srgbClr val="28AAE2"/>
      </a:accent2>
      <a:accent3>
        <a:srgbClr val="FFFFFF"/>
      </a:accent3>
      <a:accent4>
        <a:srgbClr val="F4B71E"/>
      </a:accent4>
      <a:accent5>
        <a:srgbClr val="5F605F"/>
      </a:accent5>
      <a:accent6>
        <a:srgbClr val="898989"/>
      </a:accent6>
      <a:hlink>
        <a:srgbClr val="28AAE2"/>
      </a:hlink>
      <a:folHlink>
        <a:srgbClr val="28AAE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683</Words>
  <Application>Microsoft Office PowerPoint</Application>
  <PresentationFormat>Widescreen</PresentationFormat>
  <Paragraphs>114</Paragraphs>
  <Slides>15</Slides>
  <Notes>15</Notes>
  <HiddenSlides>7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Barlow</vt:lpstr>
      <vt:lpstr>Poppins</vt:lpstr>
      <vt:lpstr>Poppins Light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Steger, Patrick</cp:lastModifiedBy>
  <cp:revision>1</cp:revision>
  <dcterms:modified xsi:type="dcterms:W3CDTF">2025-02-16T14:41:03Z</dcterms:modified>
</cp:coreProperties>
</file>